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86" y="38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1302" y="57555"/>
            <a:ext cx="271589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16865"/>
          </a:xfrm>
          <a:custGeom>
            <a:avLst/>
            <a:gdLst/>
            <a:ahLst/>
            <a:cxnLst/>
            <a:rect l="l" t="t" r="r" b="b"/>
            <a:pathLst>
              <a:path w="4608195" h="316865">
                <a:moveTo>
                  <a:pt x="4608004" y="0"/>
                </a:moveTo>
                <a:lnTo>
                  <a:pt x="0" y="0"/>
                </a:lnTo>
                <a:lnTo>
                  <a:pt x="0" y="316801"/>
                </a:lnTo>
                <a:lnTo>
                  <a:pt x="4608004" y="316801"/>
                </a:lnTo>
                <a:lnTo>
                  <a:pt x="4608004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02" y="57555"/>
            <a:ext cx="1804670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106" y="825046"/>
            <a:ext cx="3822700" cy="183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20210" y="3333867"/>
            <a:ext cx="5765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11302" y="3333867"/>
            <a:ext cx="92138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-12"/>
            <a:ext cx="4608195" cy="57785"/>
          </a:xfrm>
          <a:custGeom>
            <a:avLst/>
            <a:gdLst/>
            <a:ahLst/>
            <a:cxnLst/>
            <a:rect l="l" t="t" r="r" b="b"/>
            <a:pathLst>
              <a:path w="4608195" h="57785">
                <a:moveTo>
                  <a:pt x="4608004" y="0"/>
                </a:moveTo>
                <a:lnTo>
                  <a:pt x="0" y="0"/>
                </a:lnTo>
                <a:lnTo>
                  <a:pt x="0" y="57607"/>
                </a:lnTo>
                <a:lnTo>
                  <a:pt x="4608004" y="57607"/>
                </a:lnTo>
                <a:lnTo>
                  <a:pt x="4608004" y="0"/>
                </a:lnTo>
                <a:close/>
              </a:path>
            </a:pathLst>
          </a:custGeom>
          <a:solidFill>
            <a:srgbClr val="154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58" y="373058"/>
            <a:ext cx="1110269" cy="4590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646" y="431263"/>
            <a:ext cx="815796" cy="349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3048" y="448325"/>
            <a:ext cx="234127" cy="3087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4002" y="973912"/>
            <a:ext cx="3960495" cy="15240"/>
          </a:xfrm>
          <a:custGeom>
            <a:avLst/>
            <a:gdLst/>
            <a:ahLst/>
            <a:cxnLst/>
            <a:rect l="l" t="t" r="r" b="b"/>
            <a:pathLst>
              <a:path w="3960495" h="15240">
                <a:moveTo>
                  <a:pt x="3959999" y="0"/>
                </a:moveTo>
                <a:lnTo>
                  <a:pt x="0" y="0"/>
                </a:lnTo>
                <a:lnTo>
                  <a:pt x="0" y="15189"/>
                </a:lnTo>
                <a:lnTo>
                  <a:pt x="3959999" y="15189"/>
                </a:lnTo>
                <a:lnTo>
                  <a:pt x="3959999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4002" y="1220635"/>
            <a:ext cx="871219" cy="31750"/>
          </a:xfrm>
          <a:custGeom>
            <a:avLst/>
            <a:gdLst/>
            <a:ahLst/>
            <a:cxnLst/>
            <a:rect l="l" t="t" r="r" b="b"/>
            <a:pathLst>
              <a:path w="871219" h="31750">
                <a:moveTo>
                  <a:pt x="871207" y="0"/>
                </a:moveTo>
                <a:lnTo>
                  <a:pt x="0" y="0"/>
                </a:lnTo>
                <a:lnTo>
                  <a:pt x="0" y="31635"/>
                </a:lnTo>
                <a:lnTo>
                  <a:pt x="871207" y="31635"/>
                </a:lnTo>
                <a:lnTo>
                  <a:pt x="87120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1302" y="1359929"/>
            <a:ext cx="389762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200" spc="-155" dirty="0"/>
              <a:t>Electrochemical</a:t>
            </a:r>
            <a:r>
              <a:rPr sz="1200" spc="90" dirty="0"/>
              <a:t> </a:t>
            </a:r>
            <a:r>
              <a:rPr sz="1200" spc="-100" dirty="0"/>
              <a:t>De-</a:t>
            </a:r>
            <a:r>
              <a:rPr sz="1200" spc="-110" dirty="0"/>
              <a:t>fluorination</a:t>
            </a:r>
            <a:r>
              <a:rPr sz="1200" spc="90" dirty="0"/>
              <a:t> </a:t>
            </a:r>
            <a:r>
              <a:rPr sz="1200" spc="-150" dirty="0"/>
              <a:t>and</a:t>
            </a:r>
            <a:r>
              <a:rPr sz="1200" spc="90" dirty="0"/>
              <a:t> </a:t>
            </a:r>
            <a:r>
              <a:rPr sz="1200" spc="-130" dirty="0"/>
              <a:t>Magnetic</a:t>
            </a:r>
            <a:r>
              <a:rPr sz="1200" spc="90" dirty="0"/>
              <a:t> </a:t>
            </a:r>
            <a:r>
              <a:rPr sz="1200" spc="-114" dirty="0"/>
              <a:t>Polishing </a:t>
            </a:r>
            <a:r>
              <a:rPr sz="1200" spc="-85" dirty="0"/>
              <a:t>of</a:t>
            </a:r>
            <a:r>
              <a:rPr sz="1200" spc="40" dirty="0"/>
              <a:t> </a:t>
            </a:r>
            <a:r>
              <a:rPr sz="1200" spc="-95" dirty="0"/>
              <a:t>PFAS</a:t>
            </a:r>
            <a:r>
              <a:rPr sz="1200" spc="40" dirty="0"/>
              <a:t> </a:t>
            </a:r>
            <a:r>
              <a:rPr sz="1200" spc="-155" dirty="0"/>
              <a:t>using</a:t>
            </a:r>
            <a:r>
              <a:rPr sz="1200" spc="45" dirty="0"/>
              <a:t> </a:t>
            </a:r>
            <a:r>
              <a:rPr sz="1200" spc="-145" dirty="0"/>
              <a:t>Continuous</a:t>
            </a:r>
            <a:r>
              <a:rPr sz="1200" spc="40" dirty="0"/>
              <a:t> </a:t>
            </a:r>
            <a:r>
              <a:rPr sz="1200" spc="-155" dirty="0"/>
              <a:t>Flow</a:t>
            </a:r>
            <a:r>
              <a:rPr sz="1200" spc="45" dirty="0"/>
              <a:t> </a:t>
            </a:r>
            <a:r>
              <a:rPr sz="1200" spc="-30" dirty="0"/>
              <a:t>Reactors</a:t>
            </a:r>
            <a:endParaRPr sz="1200"/>
          </a:p>
        </p:txBody>
      </p:sp>
      <p:sp>
        <p:nvSpPr>
          <p:cNvPr id="8" name="object 8"/>
          <p:cNvSpPr/>
          <p:nvPr/>
        </p:nvSpPr>
        <p:spPr>
          <a:xfrm>
            <a:off x="326505" y="1927757"/>
            <a:ext cx="3960495" cy="824230"/>
          </a:xfrm>
          <a:custGeom>
            <a:avLst/>
            <a:gdLst/>
            <a:ahLst/>
            <a:cxnLst/>
            <a:rect l="l" t="t" r="r" b="b"/>
            <a:pathLst>
              <a:path w="3960495" h="824230">
                <a:moveTo>
                  <a:pt x="390945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773366"/>
                </a:lnTo>
                <a:lnTo>
                  <a:pt x="3977" y="793066"/>
                </a:lnTo>
                <a:lnTo>
                  <a:pt x="14823" y="809153"/>
                </a:lnTo>
                <a:lnTo>
                  <a:pt x="30910" y="820000"/>
                </a:lnTo>
                <a:lnTo>
                  <a:pt x="50610" y="823977"/>
                </a:lnTo>
                <a:lnTo>
                  <a:pt x="3909450" y="823977"/>
                </a:lnTo>
                <a:lnTo>
                  <a:pt x="3929151" y="820000"/>
                </a:lnTo>
                <a:lnTo>
                  <a:pt x="3945238" y="809153"/>
                </a:lnTo>
                <a:lnTo>
                  <a:pt x="3956084" y="793066"/>
                </a:lnTo>
                <a:lnTo>
                  <a:pt x="3960061" y="773366"/>
                </a:lnTo>
                <a:lnTo>
                  <a:pt x="3960061" y="50610"/>
                </a:lnTo>
                <a:lnTo>
                  <a:pt x="3956084" y="30910"/>
                </a:lnTo>
                <a:lnTo>
                  <a:pt x="3945238" y="14823"/>
                </a:lnTo>
                <a:lnTo>
                  <a:pt x="3929151" y="3977"/>
                </a:lnTo>
                <a:lnTo>
                  <a:pt x="3909450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974" y="1925227"/>
            <a:ext cx="38100" cy="829310"/>
          </a:xfrm>
          <a:custGeom>
            <a:avLst/>
            <a:gdLst/>
            <a:ahLst/>
            <a:cxnLst/>
            <a:rect l="l" t="t" r="r" b="b"/>
            <a:pathLst>
              <a:path w="38100" h="82931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0" y="810059"/>
                </a:lnTo>
                <a:lnTo>
                  <a:pt x="1491" y="817446"/>
                </a:lnTo>
                <a:lnTo>
                  <a:pt x="5558" y="823479"/>
                </a:lnTo>
                <a:lnTo>
                  <a:pt x="11591" y="827546"/>
                </a:lnTo>
                <a:lnTo>
                  <a:pt x="18979" y="829038"/>
                </a:lnTo>
                <a:lnTo>
                  <a:pt x="26366" y="827546"/>
                </a:lnTo>
                <a:lnTo>
                  <a:pt x="32399" y="823479"/>
                </a:lnTo>
                <a:lnTo>
                  <a:pt x="36466" y="817446"/>
                </a:lnTo>
                <a:lnTo>
                  <a:pt x="37958" y="810059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9826" y="2002401"/>
            <a:ext cx="1525270" cy="661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ill Sans MT"/>
                <a:cs typeface="Gill Sans MT"/>
              </a:rPr>
              <a:t>Team</a:t>
            </a:r>
            <a:r>
              <a:rPr sz="1000" spc="110" dirty="0">
                <a:latin typeface="Gill Sans MT"/>
                <a:cs typeface="Gill Sans MT"/>
              </a:rPr>
              <a:t> </a:t>
            </a:r>
            <a:r>
              <a:rPr sz="1000" dirty="0">
                <a:latin typeface="Gill Sans MT"/>
                <a:cs typeface="Gill Sans MT"/>
              </a:rPr>
              <a:t>ID:</a:t>
            </a:r>
            <a:r>
              <a:rPr sz="1000" spc="110" dirty="0">
                <a:latin typeface="Gill Sans MT"/>
                <a:cs typeface="Gill Sans MT"/>
              </a:rPr>
              <a:t> </a:t>
            </a:r>
            <a:r>
              <a:rPr sz="1000" i="1" spc="-50" dirty="0">
                <a:latin typeface="Arial"/>
                <a:cs typeface="Arial"/>
              </a:rPr>
              <a:t>GEN26-</a:t>
            </a:r>
            <a:r>
              <a:rPr sz="1000" i="1" spc="-45" dirty="0">
                <a:latin typeface="Arial"/>
                <a:cs typeface="Arial"/>
              </a:rPr>
              <a:t>A0H-</a:t>
            </a:r>
            <a:r>
              <a:rPr sz="1000" i="1" spc="-20" dirty="0">
                <a:latin typeface="Arial"/>
                <a:cs typeface="Arial"/>
              </a:rPr>
              <a:t>I125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58800"/>
              </a:lnSpc>
            </a:pPr>
            <a:r>
              <a:rPr sz="1000" dirty="0">
                <a:latin typeface="Gill Sans MT"/>
                <a:cs typeface="Gill Sans MT"/>
              </a:rPr>
              <a:t>Team</a:t>
            </a:r>
            <a:r>
              <a:rPr sz="1000" spc="40" dirty="0">
                <a:latin typeface="Gill Sans MT"/>
                <a:cs typeface="Gill Sans MT"/>
              </a:rPr>
              <a:t> </a:t>
            </a:r>
            <a:r>
              <a:rPr sz="1000" dirty="0">
                <a:latin typeface="Gill Sans MT"/>
                <a:cs typeface="Gill Sans MT"/>
              </a:rPr>
              <a:t>Name:</a:t>
            </a:r>
            <a:r>
              <a:rPr sz="1000" spc="200" dirty="0">
                <a:latin typeface="Gill Sans MT"/>
                <a:cs typeface="Gill Sans MT"/>
              </a:rPr>
              <a:t> </a:t>
            </a:r>
            <a:r>
              <a:rPr sz="1000" i="1" spc="-55" dirty="0">
                <a:latin typeface="Arial"/>
                <a:cs typeface="Arial"/>
              </a:rPr>
              <a:t>Team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i="1" spc="-35" dirty="0">
                <a:latin typeface="Arial"/>
                <a:cs typeface="Arial"/>
              </a:rPr>
              <a:t>Phoenix </a:t>
            </a:r>
            <a:r>
              <a:rPr sz="1000" i="1" spc="-25" dirty="0">
                <a:latin typeface="Arial"/>
                <a:cs typeface="Arial"/>
              </a:rPr>
              <a:t>Domain</a:t>
            </a:r>
            <a:r>
              <a:rPr sz="1000" i="1" spc="-35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302" y="2944858"/>
            <a:ext cx="25393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</a:rPr>
              <a:t>Amrita</a:t>
            </a:r>
            <a:r>
              <a:rPr sz="9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154B33"/>
                </a:solidFill>
                <a:latin typeface="Tahoma"/>
                <a:cs typeface="Tahoma"/>
              </a:rPr>
              <a:t>Vishwa</a:t>
            </a:r>
            <a:r>
              <a:rPr sz="9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</a:rPr>
              <a:t>Vidyapeetham,</a:t>
            </a:r>
            <a:r>
              <a:rPr sz="9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</a:rPr>
              <a:t>Coimbatore</a:t>
            </a:r>
            <a:r>
              <a:rPr sz="9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</a:rPr>
              <a:t>Campus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2879" y="2944858"/>
            <a:ext cx="1293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 Black"/>
                <a:cs typeface="Arial Black"/>
              </a:rPr>
              <a:t>Date:</a:t>
            </a:r>
            <a:r>
              <a:rPr sz="900" spc="5" dirty="0">
                <a:latin typeface="Arial Black"/>
                <a:cs typeface="Arial Black"/>
              </a:rPr>
              <a:t> </a:t>
            </a:r>
            <a:r>
              <a:rPr sz="900" dirty="0">
                <a:latin typeface="Tahoma"/>
                <a:cs typeface="Tahoma"/>
              </a:rPr>
              <a:t>11th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October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2026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40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30" dirty="0"/>
              <a:t>Presentation</a:t>
            </a:r>
            <a:r>
              <a:rPr spc="120" dirty="0"/>
              <a:t> </a:t>
            </a:r>
            <a:r>
              <a:rPr spc="-9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16801"/>
            <a:ext cx="4608195" cy="17780"/>
          </a:xfrm>
          <a:custGeom>
            <a:avLst/>
            <a:gdLst/>
            <a:ahLst/>
            <a:cxnLst/>
            <a:rect l="l" t="t" r="r" b="b"/>
            <a:pathLst>
              <a:path w="4608195" h="17779">
                <a:moveTo>
                  <a:pt x="4608004" y="0"/>
                </a:moveTo>
                <a:lnTo>
                  <a:pt x="0" y="0"/>
                </a:lnTo>
                <a:lnTo>
                  <a:pt x="0" y="17716"/>
                </a:lnTo>
                <a:lnTo>
                  <a:pt x="4608004" y="17716"/>
                </a:lnTo>
                <a:lnTo>
                  <a:pt x="4608004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1302" y="1191200"/>
            <a:ext cx="1515745" cy="95694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2" action="ppaction://hlinksldjump"/>
              </a:rPr>
              <a:t>Problem</a:t>
            </a:r>
            <a:r>
              <a:rPr sz="900" spc="-40" dirty="0">
                <a:solidFill>
                  <a:srgbClr val="154B33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2" action="ppaction://hlinksldjump"/>
              </a:rPr>
              <a:t>Statement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3" action="ppaction://hlinksldjump"/>
              </a:rPr>
              <a:t>Problem</a:t>
            </a:r>
            <a:r>
              <a:rPr sz="900" spc="-40" dirty="0">
                <a:solidFill>
                  <a:srgbClr val="154B33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3" action="ppaction://hlinksldjump"/>
              </a:rPr>
              <a:t>Understanding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Existing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Gaps</a:t>
            </a:r>
            <a:r>
              <a:rPr sz="900" spc="-15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900" spc="85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&amp;</a:t>
            </a:r>
            <a:r>
              <a:rPr sz="900" spc="-15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Challenges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5" action="ppaction://hlinksldjump"/>
              </a:rPr>
              <a:t>Our</a:t>
            </a:r>
            <a:r>
              <a:rPr sz="900" spc="-15" dirty="0">
                <a:solidFill>
                  <a:srgbClr val="154B33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5" action="ppaction://hlinksldjump"/>
              </a:rPr>
              <a:t>Proposed Solution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940" algn="l"/>
              </a:tabLst>
            </a:pP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6" action="ppaction://hlinksldjump"/>
              </a:rPr>
              <a:t>Technical</a:t>
            </a:r>
            <a:r>
              <a:rPr sz="900" spc="5" dirty="0">
                <a:solidFill>
                  <a:srgbClr val="154B33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6" action="ppaction://hlinksldjump"/>
              </a:rPr>
              <a:t>Approach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940" algn="l"/>
              </a:tabLst>
            </a:pPr>
            <a:r>
              <a:rPr sz="900" spc="-25" dirty="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Innovation</a:t>
            </a:r>
            <a:r>
              <a:rPr sz="900" spc="20" dirty="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900" spc="85" dirty="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&amp;</a:t>
            </a:r>
            <a:r>
              <a:rPr sz="900" spc="20" dirty="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Uniqueness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0518" y="1191200"/>
            <a:ext cx="1790700" cy="95694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Feasibility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900" spc="85" dirty="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&amp;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Scalability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Cost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Product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154940" algn="l"/>
              </a:tabLst>
            </a:pP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10" action="ppaction://hlinksldjump"/>
              </a:rPr>
              <a:t>Use</a:t>
            </a:r>
            <a:r>
              <a:rPr sz="900" spc="-60" dirty="0">
                <a:solidFill>
                  <a:srgbClr val="154B33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10" action="ppaction://hlinksldjump"/>
              </a:rPr>
              <a:t>Cases</a:t>
            </a:r>
            <a:endParaRPr sz="900">
              <a:latin typeface="Tahoma"/>
              <a:cs typeface="Tahoma"/>
            </a:endParaRPr>
          </a:p>
          <a:p>
            <a:pPr marL="213360" indent="-20066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3360" algn="l"/>
              </a:tabLst>
            </a:pP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Impacts</a:t>
            </a:r>
            <a:r>
              <a:rPr sz="900" spc="-35" dirty="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and</a:t>
            </a:r>
            <a:r>
              <a:rPr sz="900" spc="-35" dirty="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Benefits</a:t>
            </a:r>
            <a:endParaRPr sz="900">
              <a:latin typeface="Tahoma"/>
              <a:cs typeface="Tahoma"/>
            </a:endParaRPr>
          </a:p>
          <a:p>
            <a:pPr marL="213360" indent="-20066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213360" algn="l"/>
              </a:tabLst>
            </a:pP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Sustainable</a:t>
            </a:r>
            <a:r>
              <a:rPr sz="900" spc="10" dirty="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Development</a:t>
            </a:r>
            <a:r>
              <a:rPr sz="900" spc="15" dirty="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Goals</a:t>
            </a:r>
            <a:endParaRPr sz="900">
              <a:latin typeface="Tahoma"/>
              <a:cs typeface="Tahoma"/>
            </a:endParaRPr>
          </a:p>
          <a:p>
            <a:pPr marL="213360" indent="-20066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3360" algn="l"/>
              </a:tabLst>
            </a:pPr>
            <a:r>
              <a:rPr sz="900" spc="-20" dirty="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Individual</a:t>
            </a:r>
            <a:r>
              <a:rPr sz="900" spc="-5" dirty="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900" dirty="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Member</a:t>
            </a:r>
            <a:r>
              <a:rPr sz="900" spc="-5" dirty="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Contribution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30" dirty="0"/>
              <a:t>Problem</a:t>
            </a:r>
            <a:r>
              <a:rPr spc="65" dirty="0"/>
              <a:t> </a:t>
            </a:r>
            <a:r>
              <a:rPr spc="-11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73189" y="619074"/>
            <a:ext cx="3810000" cy="2329815"/>
          </a:xfrm>
          <a:custGeom>
            <a:avLst/>
            <a:gdLst/>
            <a:ahLst/>
            <a:cxnLst/>
            <a:rect l="l" t="t" r="r" b="b"/>
            <a:pathLst>
              <a:path w="3810000" h="2329815">
                <a:moveTo>
                  <a:pt x="3809657" y="44399"/>
                </a:moveTo>
                <a:lnTo>
                  <a:pt x="3808349" y="44399"/>
                </a:lnTo>
                <a:lnTo>
                  <a:pt x="3805656" y="31076"/>
                </a:lnTo>
                <a:lnTo>
                  <a:pt x="3794734" y="14922"/>
                </a:lnTo>
                <a:lnTo>
                  <a:pt x="3778580" y="4013"/>
                </a:lnTo>
                <a:lnTo>
                  <a:pt x="375885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399"/>
                </a:lnTo>
                <a:lnTo>
                  <a:pt x="0" y="44399"/>
                </a:lnTo>
                <a:lnTo>
                  <a:pt x="0" y="50800"/>
                </a:lnTo>
                <a:lnTo>
                  <a:pt x="0" y="82384"/>
                </a:lnTo>
                <a:lnTo>
                  <a:pt x="0" y="2278634"/>
                </a:lnTo>
                <a:lnTo>
                  <a:pt x="4013" y="2298357"/>
                </a:lnTo>
                <a:lnTo>
                  <a:pt x="14922" y="2314511"/>
                </a:lnTo>
                <a:lnTo>
                  <a:pt x="31076" y="2325420"/>
                </a:lnTo>
                <a:lnTo>
                  <a:pt x="50812" y="2329434"/>
                </a:lnTo>
                <a:lnTo>
                  <a:pt x="3758857" y="2329434"/>
                </a:lnTo>
                <a:lnTo>
                  <a:pt x="3778580" y="2325420"/>
                </a:lnTo>
                <a:lnTo>
                  <a:pt x="3794734" y="2314511"/>
                </a:lnTo>
                <a:lnTo>
                  <a:pt x="3805656" y="2298357"/>
                </a:lnTo>
                <a:lnTo>
                  <a:pt x="3809657" y="2278634"/>
                </a:lnTo>
                <a:lnTo>
                  <a:pt x="3809657" y="82384"/>
                </a:lnTo>
                <a:lnTo>
                  <a:pt x="3809657" y="50800"/>
                </a:lnTo>
                <a:lnTo>
                  <a:pt x="3809657" y="44399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299" y="748782"/>
            <a:ext cx="3482975" cy="204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sz="900" spc="-10" dirty="0">
                <a:latin typeface="Tahoma"/>
                <a:cs typeface="Tahoma"/>
              </a:rPr>
              <a:t>Persistent</a:t>
            </a:r>
            <a:r>
              <a:rPr sz="900" spc="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contamination</a:t>
            </a:r>
            <a:r>
              <a:rPr sz="900" spc="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industrial</a:t>
            </a:r>
            <a:r>
              <a:rPr sz="900" spc="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drinking-</a:t>
            </a:r>
            <a:r>
              <a:rPr sz="900" spc="-10" dirty="0">
                <a:latin typeface="Tahoma"/>
                <a:cs typeface="Tahoma"/>
              </a:rPr>
              <a:t>water </a:t>
            </a:r>
            <a:r>
              <a:rPr sz="900" spc="-30" dirty="0">
                <a:latin typeface="Tahoma"/>
                <a:cs typeface="Tahoma"/>
              </a:rPr>
              <a:t>systems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poses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critical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environmental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challenge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due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exceptional </a:t>
            </a:r>
            <a:r>
              <a:rPr sz="900" spc="-20" dirty="0">
                <a:latin typeface="Tahoma"/>
                <a:cs typeface="Tahoma"/>
              </a:rPr>
              <a:t>strength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C–F</a:t>
            </a:r>
            <a:r>
              <a:rPr sz="900" spc="-20" dirty="0">
                <a:latin typeface="Tahoma"/>
                <a:cs typeface="Tahoma"/>
              </a:rPr>
              <a:t> bonds,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which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makes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conventional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methods </a:t>
            </a:r>
            <a:r>
              <a:rPr sz="900" spc="-25" dirty="0">
                <a:latin typeface="Tahoma"/>
                <a:cs typeface="Tahoma"/>
              </a:rPr>
              <a:t>largely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ineffective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complete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destruction.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Existing</a:t>
            </a:r>
            <a:r>
              <a:rPr sz="900" spc="-25" dirty="0">
                <a:latin typeface="Tahoma"/>
                <a:cs typeface="Tahoma"/>
              </a:rPr>
              <a:t> technologies </a:t>
            </a:r>
            <a:r>
              <a:rPr sz="900" spc="-20" dirty="0">
                <a:latin typeface="Tahoma"/>
                <a:cs typeface="Tahoma"/>
              </a:rPr>
              <a:t>such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10" dirty="0">
                <a:latin typeface="Tahoma"/>
                <a:cs typeface="Tahoma"/>
              </a:rPr>
              <a:t> activated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carbon</a:t>
            </a:r>
            <a:r>
              <a:rPr sz="900" spc="-10" dirty="0">
                <a:latin typeface="Tahoma"/>
                <a:cs typeface="Tahoma"/>
              </a:rPr>
              <a:t> and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ion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exchange</a:t>
            </a:r>
            <a:r>
              <a:rPr sz="900" spc="-10" dirty="0">
                <a:latin typeface="Tahoma"/>
                <a:cs typeface="Tahoma"/>
              </a:rPr>
              <a:t> primarily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transfer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from water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concentrated </a:t>
            </a:r>
            <a:r>
              <a:rPr sz="900" dirty="0">
                <a:latin typeface="Tahoma"/>
                <a:cs typeface="Tahoma"/>
              </a:rPr>
              <a:t>solid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20" dirty="0">
                <a:latin typeface="Tahoma"/>
                <a:cs typeface="Tahoma"/>
              </a:rPr>
              <a:t> brine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waste,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rather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eliminating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contaminant.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Advanced destruction </a:t>
            </a:r>
            <a:r>
              <a:rPr sz="900" spc="-40" dirty="0">
                <a:latin typeface="Tahoma"/>
                <a:cs typeface="Tahoma"/>
              </a:rPr>
              <a:t>processes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can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require</a:t>
            </a:r>
            <a:r>
              <a:rPr sz="900" spc="-20" dirty="0">
                <a:latin typeface="Tahoma"/>
                <a:cs typeface="Tahoma"/>
              </a:rPr>
              <a:t> high </a:t>
            </a:r>
            <a:r>
              <a:rPr sz="900" spc="-55" dirty="0">
                <a:latin typeface="Tahoma"/>
                <a:cs typeface="Tahoma"/>
              </a:rPr>
              <a:t>energy,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expensive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catalysts,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complex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operating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conditions,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limiting </a:t>
            </a:r>
            <a:r>
              <a:rPr sz="900" dirty="0">
                <a:latin typeface="Tahoma"/>
                <a:cs typeface="Tahoma"/>
              </a:rPr>
              <a:t>their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practical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deployment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India.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Therefore,</a:t>
            </a:r>
            <a:r>
              <a:rPr sz="900" spc="-20" dirty="0">
                <a:latin typeface="Tahoma"/>
                <a:cs typeface="Tahoma"/>
              </a:rPr>
              <a:t> there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pressing</a:t>
            </a:r>
            <a:r>
              <a:rPr sz="900" spc="-20" dirty="0">
                <a:latin typeface="Tahoma"/>
                <a:cs typeface="Tahoma"/>
              </a:rPr>
              <a:t> need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develop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low-</a:t>
            </a:r>
            <a:r>
              <a:rPr sz="900" spc="-45" dirty="0">
                <a:latin typeface="Tahoma"/>
                <a:cs typeface="Tahoma"/>
              </a:rPr>
              <a:t>energy,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scalable</a:t>
            </a:r>
            <a:r>
              <a:rPr sz="900" spc="-10" dirty="0">
                <a:latin typeface="Tahoma"/>
                <a:cs typeface="Tahoma"/>
              </a:rPr>
              <a:t> and </a:t>
            </a:r>
            <a:r>
              <a:rPr sz="900" spc="-20" dirty="0">
                <a:latin typeface="Tahoma"/>
                <a:cs typeface="Tahoma"/>
              </a:rPr>
              <a:t>economically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viable treatment </a:t>
            </a:r>
            <a:r>
              <a:rPr sz="900" spc="-25" dirty="0">
                <a:latin typeface="Tahoma"/>
                <a:cs typeface="Tahoma"/>
              </a:rPr>
              <a:t>system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capable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not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merely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removing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PFAS,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but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promoting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its </a:t>
            </a:r>
            <a:r>
              <a:rPr sz="900" spc="-40" dirty="0">
                <a:latin typeface="Tahoma"/>
                <a:cs typeface="Tahoma"/>
              </a:rPr>
              <a:t>progressive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C–F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bond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cleavage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defluorination,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while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minimizing </a:t>
            </a:r>
            <a:r>
              <a:rPr sz="900" spc="-35" dirty="0">
                <a:latin typeface="Tahoma"/>
                <a:cs typeface="Tahoma"/>
              </a:rPr>
              <a:t>secondary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waste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hazardous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transformation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products.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1336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63"/>
                </a:lnTo>
                <a:lnTo>
                  <a:pt x="3317760" y="124663"/>
                </a:lnTo>
                <a:lnTo>
                  <a:pt x="4607992" y="124663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30" dirty="0"/>
              <a:t>Problem</a:t>
            </a:r>
            <a:r>
              <a:rPr spc="65" dirty="0"/>
              <a:t> </a:t>
            </a:r>
            <a:r>
              <a:rPr spc="-120" dirty="0"/>
              <a:t>Understanding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1794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66514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1020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/>
              <a:t>PFAS</a:t>
            </a:r>
            <a:r>
              <a:rPr spc="15" dirty="0"/>
              <a:t> </a:t>
            </a:r>
            <a:r>
              <a:rPr spc="-35" dirty="0"/>
              <a:t>are</a:t>
            </a:r>
            <a:r>
              <a:rPr spc="20" dirty="0"/>
              <a:t> </a:t>
            </a:r>
            <a:r>
              <a:rPr spc="-20" dirty="0"/>
              <a:t>human</a:t>
            </a:r>
            <a:r>
              <a:rPr spc="20" dirty="0"/>
              <a:t> </a:t>
            </a:r>
            <a:r>
              <a:rPr spc="-30" dirty="0"/>
              <a:t>synthesized</a:t>
            </a:r>
            <a:r>
              <a:rPr spc="20" dirty="0"/>
              <a:t> </a:t>
            </a:r>
            <a:r>
              <a:rPr spc="-30" dirty="0"/>
              <a:t>substances</a:t>
            </a:r>
            <a:r>
              <a:rPr spc="20" dirty="0"/>
              <a:t> </a:t>
            </a:r>
            <a:r>
              <a:rPr spc="-20" dirty="0"/>
              <a:t>consisting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C-F</a:t>
            </a:r>
            <a:r>
              <a:rPr spc="20" dirty="0"/>
              <a:t> </a:t>
            </a:r>
            <a:r>
              <a:rPr spc="-20" dirty="0"/>
              <a:t>region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50" dirty="0"/>
              <a:t>a </a:t>
            </a:r>
            <a:r>
              <a:rPr spc="-10" dirty="0"/>
              <a:t>functional</a:t>
            </a:r>
            <a:r>
              <a:rPr spc="-15" dirty="0"/>
              <a:t> </a:t>
            </a:r>
            <a:r>
              <a:rPr spc="-20" dirty="0"/>
              <a:t>group.Communities</a:t>
            </a:r>
            <a:r>
              <a:rPr spc="-10" dirty="0"/>
              <a:t> </a:t>
            </a:r>
            <a:r>
              <a:rPr spc="-20" dirty="0"/>
              <a:t>using</a:t>
            </a:r>
            <a:r>
              <a:rPr spc="-15" dirty="0"/>
              <a:t> </a:t>
            </a:r>
            <a:r>
              <a:rPr spc="-20" dirty="0"/>
              <a:t>wells</a:t>
            </a:r>
            <a:r>
              <a:rPr spc="-10" dirty="0"/>
              <a:t> </a:t>
            </a:r>
            <a:r>
              <a:rPr spc="-20" dirty="0"/>
              <a:t>and</a:t>
            </a:r>
            <a:r>
              <a:rPr spc="-10" dirty="0"/>
              <a:t> </a:t>
            </a:r>
            <a:r>
              <a:rPr spc="-20" dirty="0"/>
              <a:t>water</a:t>
            </a:r>
            <a:r>
              <a:rPr spc="-15" dirty="0"/>
              <a:t> </a:t>
            </a:r>
            <a:r>
              <a:rPr spc="-25" dirty="0"/>
              <a:t>supplies</a:t>
            </a:r>
            <a:r>
              <a:rPr spc="-10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spc="-40" dirty="0"/>
              <a:t>are</a:t>
            </a:r>
            <a:r>
              <a:rPr spc="-15" dirty="0"/>
              <a:t> </a:t>
            </a:r>
            <a:r>
              <a:rPr spc="-25" dirty="0"/>
              <a:t>exposed </a:t>
            </a:r>
            <a:r>
              <a:rPr dirty="0"/>
              <a:t>to</a:t>
            </a:r>
            <a:r>
              <a:rPr spc="-35" dirty="0"/>
              <a:t> </a:t>
            </a:r>
            <a:r>
              <a:rPr spc="-20" dirty="0"/>
              <a:t>industries,</a:t>
            </a:r>
            <a:r>
              <a:rPr spc="-30" dirty="0"/>
              <a:t> </a:t>
            </a:r>
            <a:r>
              <a:rPr spc="-10" dirty="0"/>
              <a:t>airports</a:t>
            </a:r>
            <a:r>
              <a:rPr spc="-30" dirty="0"/>
              <a:t> </a:t>
            </a:r>
            <a:r>
              <a:rPr spc="-10" dirty="0"/>
              <a:t>and</a:t>
            </a:r>
            <a:r>
              <a:rPr spc="-30" dirty="0"/>
              <a:t> </a:t>
            </a:r>
            <a:r>
              <a:rPr dirty="0"/>
              <a:t>fire</a:t>
            </a:r>
            <a:r>
              <a:rPr spc="-30" dirty="0"/>
              <a:t> </a:t>
            </a:r>
            <a:r>
              <a:rPr spc="-10" dirty="0"/>
              <a:t>fighting</a:t>
            </a:r>
            <a:r>
              <a:rPr spc="-30" dirty="0"/>
              <a:t> </a:t>
            </a:r>
            <a:r>
              <a:rPr dirty="0"/>
              <a:t>training</a:t>
            </a:r>
            <a:r>
              <a:rPr spc="-35" dirty="0"/>
              <a:t> areas</a:t>
            </a:r>
            <a:r>
              <a:rPr spc="-30" dirty="0"/>
              <a:t> </a:t>
            </a:r>
            <a:r>
              <a:rPr spc="-35" dirty="0"/>
              <a:t>are</a:t>
            </a:r>
            <a:r>
              <a:rPr spc="-30" dirty="0"/>
              <a:t> affected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most</a:t>
            </a:r>
            <a:r>
              <a:rPr spc="-30" dirty="0"/>
              <a:t> </a:t>
            </a:r>
            <a:r>
              <a:rPr spc="-25" dirty="0"/>
              <a:t>as </a:t>
            </a:r>
            <a:r>
              <a:rPr dirty="0"/>
              <a:t>PFAS</a:t>
            </a:r>
            <a:r>
              <a:rPr spc="5" dirty="0"/>
              <a:t> </a:t>
            </a:r>
            <a:r>
              <a:rPr spc="-20" dirty="0"/>
              <a:t>contaminated</a:t>
            </a:r>
            <a:r>
              <a:rPr spc="5" dirty="0"/>
              <a:t> </a:t>
            </a:r>
            <a:r>
              <a:rPr spc="-20" dirty="0"/>
              <a:t>water</a:t>
            </a:r>
            <a:r>
              <a:rPr spc="10" dirty="0"/>
              <a:t> </a:t>
            </a:r>
            <a:r>
              <a:rPr dirty="0"/>
              <a:t>can</a:t>
            </a:r>
            <a:r>
              <a:rPr spc="5" dirty="0"/>
              <a:t> </a:t>
            </a:r>
            <a:r>
              <a:rPr spc="-20" dirty="0"/>
              <a:t>lead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25" dirty="0"/>
              <a:t>permanent</a:t>
            </a:r>
            <a:r>
              <a:rPr spc="5" dirty="0"/>
              <a:t> </a:t>
            </a:r>
            <a:r>
              <a:rPr dirty="0"/>
              <a:t>liver</a:t>
            </a:r>
            <a:r>
              <a:rPr spc="10" dirty="0"/>
              <a:t> </a:t>
            </a:r>
            <a:r>
              <a:rPr spc="-35" dirty="0"/>
              <a:t>damage</a:t>
            </a:r>
            <a:r>
              <a:rPr spc="5" dirty="0"/>
              <a:t> </a:t>
            </a:r>
            <a:r>
              <a:rPr dirty="0"/>
              <a:t>if</a:t>
            </a:r>
            <a:r>
              <a:rPr spc="5" dirty="0"/>
              <a:t> </a:t>
            </a:r>
            <a:r>
              <a:rPr spc="-10" dirty="0"/>
              <a:t>ingested.</a:t>
            </a:r>
          </a:p>
          <a:p>
            <a:pPr marL="12700" marR="57150">
              <a:lnSpc>
                <a:spcPct val="113100"/>
              </a:lnSpc>
              <a:spcBef>
                <a:spcPts val="994"/>
              </a:spcBef>
            </a:pPr>
            <a:r>
              <a:rPr spc="-10" dirty="0"/>
              <a:t>Exceptionally</a:t>
            </a:r>
            <a:r>
              <a:rPr spc="15" dirty="0"/>
              <a:t> </a:t>
            </a:r>
            <a:r>
              <a:rPr spc="-20" dirty="0"/>
              <a:t>strong</a:t>
            </a:r>
            <a:r>
              <a:rPr spc="15" dirty="0"/>
              <a:t> </a:t>
            </a:r>
            <a:r>
              <a:rPr dirty="0"/>
              <a:t>C-F</a:t>
            </a:r>
            <a:r>
              <a:rPr spc="15" dirty="0"/>
              <a:t> </a:t>
            </a:r>
            <a:r>
              <a:rPr spc="-10" dirty="0"/>
              <a:t>bond</a:t>
            </a:r>
            <a:r>
              <a:rPr spc="15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PFAS</a:t>
            </a:r>
            <a:r>
              <a:rPr spc="15" dirty="0"/>
              <a:t> </a:t>
            </a:r>
            <a:r>
              <a:rPr spc="-25" dirty="0"/>
              <a:t>make</a:t>
            </a:r>
            <a:r>
              <a:rPr spc="15" dirty="0"/>
              <a:t> </a:t>
            </a:r>
            <a:r>
              <a:rPr dirty="0"/>
              <a:t>it</a:t>
            </a:r>
            <a:r>
              <a:rPr spc="15" dirty="0"/>
              <a:t> </a:t>
            </a:r>
            <a:r>
              <a:rPr spc="-25" dirty="0"/>
              <a:t>extremely</a:t>
            </a:r>
            <a:r>
              <a:rPr spc="15" dirty="0"/>
              <a:t> </a:t>
            </a:r>
            <a:r>
              <a:rPr dirty="0"/>
              <a:t>difficult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get</a:t>
            </a:r>
            <a:r>
              <a:rPr spc="15" dirty="0"/>
              <a:t> </a:t>
            </a:r>
            <a:r>
              <a:rPr spc="-25" dirty="0"/>
              <a:t>rid </a:t>
            </a:r>
            <a:r>
              <a:rPr dirty="0"/>
              <a:t>of</a:t>
            </a:r>
            <a:r>
              <a:rPr spc="-30" dirty="0"/>
              <a:t> </a:t>
            </a:r>
            <a:r>
              <a:rPr spc="-20" dirty="0"/>
              <a:t>using</a:t>
            </a:r>
            <a:r>
              <a:rPr spc="-30" dirty="0"/>
              <a:t> </a:t>
            </a:r>
            <a:r>
              <a:rPr spc="-10" dirty="0"/>
              <a:t>conventional</a:t>
            </a:r>
            <a:r>
              <a:rPr spc="-30" dirty="0"/>
              <a:t> </a:t>
            </a:r>
            <a:r>
              <a:rPr spc="-20" dirty="0"/>
              <a:t>water</a:t>
            </a:r>
            <a:r>
              <a:rPr spc="-30" dirty="0"/>
              <a:t> </a:t>
            </a:r>
            <a:r>
              <a:rPr spc="-10" dirty="0"/>
              <a:t>treatment</a:t>
            </a:r>
            <a:r>
              <a:rPr spc="-30" dirty="0"/>
              <a:t> </a:t>
            </a:r>
            <a:r>
              <a:rPr spc="-10" dirty="0"/>
              <a:t>techniques.</a:t>
            </a:r>
          </a:p>
          <a:p>
            <a:pPr marL="12700" marR="50165" algn="just">
              <a:lnSpc>
                <a:spcPct val="113100"/>
              </a:lnSpc>
              <a:spcBef>
                <a:spcPts val="1000"/>
              </a:spcBef>
            </a:pPr>
            <a:r>
              <a:rPr dirty="0"/>
              <a:t>PFAS</a:t>
            </a:r>
            <a:r>
              <a:rPr spc="-5" dirty="0"/>
              <a:t> </a:t>
            </a:r>
            <a:r>
              <a:rPr spc="-10" dirty="0"/>
              <a:t>affect</a:t>
            </a:r>
            <a:r>
              <a:rPr spc="-5" dirty="0"/>
              <a:t> </a:t>
            </a:r>
            <a:r>
              <a:rPr spc="-30" dirty="0"/>
              <a:t>users</a:t>
            </a:r>
            <a:r>
              <a:rPr dirty="0"/>
              <a:t> </a:t>
            </a:r>
            <a:r>
              <a:rPr spc="-10" dirty="0"/>
              <a:t>and</a:t>
            </a:r>
            <a:r>
              <a:rPr spc="-5" dirty="0"/>
              <a:t> </a:t>
            </a:r>
            <a:r>
              <a:rPr spc="-30" dirty="0"/>
              <a:t>stakeholders</a:t>
            </a:r>
            <a:r>
              <a:rPr dirty="0"/>
              <a:t> by</a:t>
            </a:r>
            <a:r>
              <a:rPr spc="-5" dirty="0"/>
              <a:t> </a:t>
            </a:r>
            <a:r>
              <a:rPr spc="-20" dirty="0"/>
              <a:t>raising</a:t>
            </a:r>
            <a:r>
              <a:rPr dirty="0"/>
              <a:t> </a:t>
            </a:r>
            <a:r>
              <a:rPr spc="-20" dirty="0"/>
              <a:t>human</a:t>
            </a:r>
            <a:r>
              <a:rPr spc="-5" dirty="0"/>
              <a:t> </a:t>
            </a:r>
            <a:r>
              <a:rPr spc="-10" dirty="0"/>
              <a:t>health</a:t>
            </a:r>
            <a:r>
              <a:rPr spc="-5" dirty="0"/>
              <a:t> </a:t>
            </a:r>
            <a:r>
              <a:rPr spc="-10" dirty="0"/>
              <a:t>risks—including </a:t>
            </a:r>
            <a:r>
              <a:rPr spc="-25" dirty="0"/>
              <a:t>cancer,</a:t>
            </a:r>
            <a:r>
              <a:rPr spc="15" dirty="0"/>
              <a:t> </a:t>
            </a:r>
            <a:r>
              <a:rPr spc="-20" dirty="0"/>
              <a:t>immune</a:t>
            </a:r>
            <a:r>
              <a:rPr spc="20" dirty="0"/>
              <a:t> </a:t>
            </a:r>
            <a:r>
              <a:rPr spc="-40" dirty="0"/>
              <a:t>suppression,</a:t>
            </a:r>
            <a:r>
              <a:rPr spc="15" dirty="0"/>
              <a:t> </a:t>
            </a:r>
            <a:r>
              <a:rPr spc="-25" dirty="0"/>
              <a:t>reproductive/developmental</a:t>
            </a:r>
            <a:r>
              <a:rPr spc="20" dirty="0"/>
              <a:t> </a:t>
            </a:r>
            <a:r>
              <a:rPr spc="-20" dirty="0"/>
              <a:t>harm,</a:t>
            </a:r>
            <a:r>
              <a:rPr spc="15" dirty="0"/>
              <a:t> </a:t>
            </a:r>
            <a:r>
              <a:rPr spc="-10" dirty="0"/>
              <a:t>thyroid</a:t>
            </a:r>
            <a:r>
              <a:rPr spc="20" dirty="0"/>
              <a:t> </a:t>
            </a:r>
            <a:r>
              <a:rPr spc="-25" dirty="0"/>
              <a:t>and </a:t>
            </a:r>
            <a:r>
              <a:rPr dirty="0"/>
              <a:t>liver</a:t>
            </a:r>
            <a:r>
              <a:rPr spc="-15" dirty="0"/>
              <a:t> </a:t>
            </a:r>
            <a:r>
              <a:rPr spc="-30" dirty="0"/>
              <a:t>effects—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spc="-20" dirty="0"/>
              <a:t>persisting</a:t>
            </a:r>
            <a:r>
              <a:rPr spc="-15" dirty="0"/>
              <a:t> </a:t>
            </a:r>
            <a:r>
              <a:rPr spc="-10" dirty="0"/>
              <a:t>and</a:t>
            </a:r>
            <a:r>
              <a:rPr spc="-15" dirty="0"/>
              <a:t> </a:t>
            </a:r>
            <a:r>
              <a:rPr spc="-20" dirty="0"/>
              <a:t>bioaccumulating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25" dirty="0"/>
              <a:t>water,</a:t>
            </a:r>
            <a:r>
              <a:rPr spc="-15" dirty="0"/>
              <a:t> </a:t>
            </a:r>
            <a:r>
              <a:rPr dirty="0"/>
              <a:t>food,</a:t>
            </a:r>
            <a:r>
              <a:rPr spc="-15" dirty="0"/>
              <a:t> </a:t>
            </a:r>
            <a:r>
              <a:rPr dirty="0"/>
              <a:t>soil,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biota,</a:t>
            </a:r>
            <a:r>
              <a:rPr spc="-30" dirty="0"/>
              <a:t> </a:t>
            </a:r>
            <a:r>
              <a:rPr dirty="0"/>
              <a:t>which</a:t>
            </a:r>
            <a:r>
              <a:rPr spc="-30" dirty="0"/>
              <a:t> makes </a:t>
            </a:r>
            <a:r>
              <a:rPr spc="-35" dirty="0"/>
              <a:t>exposure</a:t>
            </a:r>
            <a:r>
              <a:rPr spc="-30" dirty="0"/>
              <a:t> </a:t>
            </a:r>
            <a:r>
              <a:rPr spc="-10" dirty="0"/>
              <a:t>chronic</a:t>
            </a:r>
            <a:r>
              <a:rPr spc="-30" dirty="0"/>
              <a:t> </a:t>
            </a:r>
            <a:r>
              <a:rPr spc="-10" dirty="0"/>
              <a:t>and</a:t>
            </a:r>
            <a:r>
              <a:rPr spc="-25" dirty="0"/>
              <a:t> </a:t>
            </a:r>
            <a:r>
              <a:rPr spc="-20" dirty="0"/>
              <a:t>hard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avoid.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35" dirty="0"/>
              <a:t>Existing</a:t>
            </a:r>
            <a:r>
              <a:rPr spc="30" dirty="0"/>
              <a:t> </a:t>
            </a:r>
            <a:r>
              <a:rPr spc="-170" dirty="0"/>
              <a:t>Gaps</a:t>
            </a:r>
            <a:r>
              <a:rPr spc="30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spc="-130" dirty="0"/>
              <a:t>Challenges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800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4168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1640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752" rIns="0" bIns="0" rtlCol="0">
            <a:spAutoFit/>
          </a:bodyPr>
          <a:lstStyle/>
          <a:p>
            <a:pPr marL="12700" marR="169545">
              <a:lnSpc>
                <a:spcPct val="113100"/>
              </a:lnSpc>
              <a:spcBef>
                <a:spcPts val="100"/>
              </a:spcBef>
            </a:pPr>
            <a:r>
              <a:rPr dirty="0"/>
              <a:t>Activated</a:t>
            </a:r>
            <a:r>
              <a:rPr spc="-10" dirty="0"/>
              <a:t> Carbon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be</a:t>
            </a:r>
            <a:r>
              <a:rPr spc="-10" dirty="0"/>
              <a:t> </a:t>
            </a:r>
            <a:r>
              <a:rPr spc="-30" dirty="0"/>
              <a:t>used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30" dirty="0"/>
              <a:t>adsorb</a:t>
            </a:r>
            <a:r>
              <a:rPr spc="-10" dirty="0"/>
              <a:t> </a:t>
            </a:r>
            <a:r>
              <a:rPr dirty="0"/>
              <a:t>PFAS</a:t>
            </a:r>
            <a:r>
              <a:rPr spc="-10" dirty="0"/>
              <a:t>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30" dirty="0"/>
              <a:t>wastewater</a:t>
            </a:r>
            <a:r>
              <a:rPr spc="-10" dirty="0"/>
              <a:t> </a:t>
            </a:r>
            <a:r>
              <a:rPr dirty="0"/>
              <a:t>but</a:t>
            </a:r>
            <a:r>
              <a:rPr spc="-5" dirty="0"/>
              <a:t> </a:t>
            </a:r>
            <a:r>
              <a:rPr spc="-25" dirty="0"/>
              <a:t>it </a:t>
            </a:r>
            <a:r>
              <a:rPr spc="-20" dirty="0"/>
              <a:t>does</a:t>
            </a:r>
            <a:r>
              <a:rPr spc="-15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spc="-10" dirty="0"/>
              <a:t>destruct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C-F</a:t>
            </a:r>
            <a:r>
              <a:rPr spc="-15" dirty="0"/>
              <a:t> </a:t>
            </a:r>
            <a:r>
              <a:rPr spc="-10" dirty="0"/>
              <a:t>bond </a:t>
            </a:r>
            <a:r>
              <a:rPr spc="-30" dirty="0"/>
              <a:t>present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PFAS.</a:t>
            </a: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spc="-10" dirty="0"/>
              <a:t>Electrochemical</a:t>
            </a:r>
            <a:r>
              <a:rPr spc="-5" dirty="0"/>
              <a:t> </a:t>
            </a:r>
            <a:r>
              <a:rPr spc="-10" dirty="0"/>
              <a:t>Reduction</a:t>
            </a:r>
            <a:r>
              <a:rPr spc="-5" dirty="0"/>
              <a:t> </a:t>
            </a:r>
            <a:r>
              <a:rPr spc="-20" dirty="0"/>
              <a:t>using</a:t>
            </a:r>
            <a:r>
              <a:rPr dirty="0"/>
              <a:t> Ti4O7,</a:t>
            </a:r>
            <a:r>
              <a:rPr spc="-5" dirty="0"/>
              <a:t> </a:t>
            </a:r>
            <a:r>
              <a:rPr dirty="0"/>
              <a:t>PbO2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60" dirty="0"/>
              <a:t>BDD</a:t>
            </a:r>
            <a:r>
              <a:rPr spc="-5" dirty="0"/>
              <a:t> </a:t>
            </a:r>
            <a:r>
              <a:rPr spc="-30" dirty="0"/>
              <a:t>requires</a:t>
            </a:r>
            <a:r>
              <a:rPr spc="-5" dirty="0"/>
              <a:t> </a:t>
            </a:r>
            <a:r>
              <a:rPr spc="-10" dirty="0"/>
              <a:t>high</a:t>
            </a:r>
            <a:r>
              <a:rPr dirty="0"/>
              <a:t> </a:t>
            </a:r>
            <a:r>
              <a:rPr spc="-10" dirty="0"/>
              <a:t>anodic </a:t>
            </a:r>
            <a:r>
              <a:rPr dirty="0"/>
              <a:t>potential</a:t>
            </a:r>
            <a:r>
              <a:rPr spc="-5" dirty="0"/>
              <a:t> </a:t>
            </a:r>
            <a:r>
              <a:rPr dirty="0"/>
              <a:t>which </a:t>
            </a:r>
            <a:r>
              <a:rPr spc="-30" dirty="0"/>
              <a:t>increases</a:t>
            </a:r>
            <a:r>
              <a:rPr dirty="0"/>
              <a:t> </a:t>
            </a:r>
            <a:r>
              <a:rPr spc="-10" dirty="0"/>
              <a:t>costs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30" dirty="0"/>
              <a:t>reduces</a:t>
            </a:r>
            <a:r>
              <a:rPr dirty="0"/>
              <a:t> </a:t>
            </a:r>
            <a:r>
              <a:rPr spc="-30" dirty="0"/>
              <a:t>percentage</a:t>
            </a:r>
            <a:r>
              <a:rPr spc="-5" dirty="0"/>
              <a:t> </a:t>
            </a:r>
            <a:r>
              <a:rPr dirty="0"/>
              <a:t>PFAS </a:t>
            </a:r>
            <a:r>
              <a:rPr spc="-10" dirty="0"/>
              <a:t>destructed.</a:t>
            </a:r>
          </a:p>
          <a:p>
            <a:pPr marL="12700" marR="249554">
              <a:lnSpc>
                <a:spcPct val="113100"/>
              </a:lnSpc>
            </a:pPr>
            <a:r>
              <a:rPr dirty="0"/>
              <a:t>CeO2/Ti</a:t>
            </a:r>
            <a:r>
              <a:rPr spc="10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spc="-25" dirty="0"/>
              <a:t>effective</a:t>
            </a:r>
            <a:r>
              <a:rPr spc="15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20" dirty="0"/>
              <a:t>reducing</a:t>
            </a:r>
            <a:r>
              <a:rPr spc="15" dirty="0"/>
              <a:t> </a:t>
            </a:r>
            <a:r>
              <a:rPr spc="-10" dirty="0"/>
              <a:t>costs</a:t>
            </a:r>
            <a:r>
              <a:rPr spc="10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25" dirty="0"/>
              <a:t>increasing</a:t>
            </a:r>
            <a:r>
              <a:rPr spc="15" dirty="0"/>
              <a:t> </a:t>
            </a:r>
            <a:r>
              <a:rPr spc="-20" dirty="0"/>
              <a:t>efficiency</a:t>
            </a:r>
            <a:r>
              <a:rPr spc="15" dirty="0"/>
              <a:t> </a:t>
            </a:r>
            <a:r>
              <a:rPr dirty="0"/>
              <a:t>but</a:t>
            </a:r>
            <a:r>
              <a:rPr spc="15" dirty="0"/>
              <a:t> </a:t>
            </a:r>
            <a:r>
              <a:rPr spc="-10" dirty="0"/>
              <a:t>cross contamination</a:t>
            </a:r>
            <a:r>
              <a:rPr spc="-15" dirty="0"/>
              <a:t> </a:t>
            </a:r>
            <a:r>
              <a:rPr spc="-20" dirty="0"/>
              <a:t>due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50" dirty="0"/>
              <a:t>Cu/Ti</a:t>
            </a:r>
            <a:r>
              <a:rPr spc="-10" dirty="0"/>
              <a:t> </a:t>
            </a:r>
            <a:r>
              <a:rPr spc="-25" dirty="0"/>
              <a:t>corrossion</a:t>
            </a:r>
            <a:r>
              <a:rPr spc="-10" dirty="0"/>
              <a:t> </a:t>
            </a:r>
            <a:r>
              <a:rPr spc="-30" dirty="0"/>
              <a:t>causes</a:t>
            </a:r>
            <a:r>
              <a:rPr spc="-10" dirty="0"/>
              <a:t> nanotoxicity.</a:t>
            </a:r>
          </a:p>
          <a:p>
            <a:pPr marL="12700" marR="228600">
              <a:lnSpc>
                <a:spcPct val="113100"/>
              </a:lnSpc>
              <a:spcBef>
                <a:spcPts val="1000"/>
              </a:spcBef>
            </a:pPr>
            <a:r>
              <a:rPr dirty="0"/>
              <a:t>Main</a:t>
            </a:r>
            <a:r>
              <a:rPr spc="-5" dirty="0"/>
              <a:t> </a:t>
            </a:r>
            <a:r>
              <a:rPr spc="-25" dirty="0"/>
              <a:t>challenge</a:t>
            </a:r>
            <a:r>
              <a:rPr dirty="0"/>
              <a:t> that</a:t>
            </a:r>
            <a:r>
              <a:rPr spc="-5" dirty="0"/>
              <a:t> </a:t>
            </a:r>
            <a:r>
              <a:rPr spc="-20" dirty="0"/>
              <a:t>remains</a:t>
            </a:r>
            <a:r>
              <a:rPr spc="-5" dirty="0"/>
              <a:t> </a:t>
            </a:r>
            <a:r>
              <a:rPr spc="-30" dirty="0"/>
              <a:t>unsolved</a:t>
            </a:r>
            <a:r>
              <a:rPr dirty="0"/>
              <a:t> is</a:t>
            </a:r>
            <a:r>
              <a:rPr spc="-5" dirty="0"/>
              <a:t> </a:t>
            </a:r>
            <a:r>
              <a:rPr dirty="0"/>
              <a:t>that </a:t>
            </a:r>
            <a:r>
              <a:rPr spc="-20" dirty="0"/>
              <a:t>there</a:t>
            </a:r>
            <a:r>
              <a:rPr spc="-5" dirty="0"/>
              <a:t> </a:t>
            </a:r>
            <a:r>
              <a:rPr dirty="0"/>
              <a:t>is no</a:t>
            </a:r>
            <a:r>
              <a:rPr spc="-5" dirty="0"/>
              <a:t> </a:t>
            </a:r>
            <a:r>
              <a:rPr spc="-20" dirty="0"/>
              <a:t>clear</a:t>
            </a:r>
            <a:r>
              <a:rPr dirty="0"/>
              <a:t> cut</a:t>
            </a:r>
            <a:r>
              <a:rPr spc="-5" dirty="0"/>
              <a:t> </a:t>
            </a:r>
            <a:r>
              <a:rPr spc="-35" dirty="0"/>
              <a:t>way</a:t>
            </a:r>
            <a:r>
              <a:rPr dirty="0"/>
              <a:t> </a:t>
            </a:r>
            <a:r>
              <a:rPr spc="-25" dirty="0"/>
              <a:t>to </a:t>
            </a:r>
            <a:r>
              <a:rPr spc="-10" dirty="0"/>
              <a:t>destruct</a:t>
            </a:r>
            <a:r>
              <a:rPr spc="-15" dirty="0"/>
              <a:t> </a:t>
            </a:r>
            <a:r>
              <a:rPr dirty="0"/>
              <a:t>PFAS</a:t>
            </a:r>
            <a:r>
              <a:rPr spc="-10" dirty="0"/>
              <a:t> while</a:t>
            </a:r>
            <a:r>
              <a:rPr spc="-15" dirty="0"/>
              <a:t> </a:t>
            </a:r>
            <a:r>
              <a:rPr spc="-20" dirty="0"/>
              <a:t>avoiding</a:t>
            </a:r>
            <a:r>
              <a:rPr spc="-10" dirty="0"/>
              <a:t> </a:t>
            </a:r>
            <a:r>
              <a:rPr dirty="0"/>
              <a:t>high</a:t>
            </a:r>
            <a:r>
              <a:rPr spc="-15" dirty="0"/>
              <a:t> </a:t>
            </a:r>
            <a:r>
              <a:rPr spc="-35" dirty="0"/>
              <a:t>energy</a:t>
            </a:r>
            <a:r>
              <a:rPr spc="-10" dirty="0"/>
              <a:t> costs,</a:t>
            </a:r>
            <a:r>
              <a:rPr spc="-15" dirty="0"/>
              <a:t> </a:t>
            </a:r>
            <a:r>
              <a:rPr dirty="0"/>
              <a:t>low</a:t>
            </a:r>
            <a:r>
              <a:rPr spc="-10" dirty="0"/>
              <a:t> </a:t>
            </a:r>
            <a:r>
              <a:rPr spc="-20" dirty="0"/>
              <a:t>efficiency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spc="-20" dirty="0"/>
              <a:t>nanoparticle</a:t>
            </a:r>
            <a:r>
              <a:rPr spc="-15" dirty="0"/>
              <a:t> </a:t>
            </a:r>
            <a:r>
              <a:rPr spc="-10" dirty="0"/>
              <a:t>toxicity.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70" dirty="0"/>
              <a:t>Our</a:t>
            </a:r>
            <a:r>
              <a:rPr spc="35" dirty="0"/>
              <a:t> </a:t>
            </a:r>
            <a:r>
              <a:rPr spc="-135" dirty="0"/>
              <a:t>Proposed</a:t>
            </a:r>
            <a:r>
              <a:rPr spc="35" dirty="0"/>
              <a:t> </a:t>
            </a:r>
            <a:r>
              <a:rPr spc="-105" dirty="0"/>
              <a:t>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67853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251192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79361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5106" y="585638"/>
            <a:ext cx="3721735" cy="24511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900" dirty="0">
                <a:latin typeface="Tahoma"/>
                <a:cs typeface="Tahoma"/>
              </a:rPr>
              <a:t>An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Integrated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Three-</a:t>
            </a:r>
            <a:r>
              <a:rPr sz="900" spc="-10" dirty="0">
                <a:latin typeface="Tahoma"/>
                <a:cs typeface="Tahoma"/>
              </a:rPr>
              <a:t>Stage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Strategy</a:t>
            </a:r>
            <a:endParaRPr sz="900">
              <a:latin typeface="Tahoma"/>
              <a:cs typeface="Tahoma"/>
            </a:endParaRPr>
          </a:p>
          <a:p>
            <a:pPr marL="168275" indent="-155575">
              <a:lnSpc>
                <a:spcPct val="100000"/>
              </a:lnSpc>
              <a:spcBef>
                <a:spcPts val="145"/>
              </a:spcBef>
              <a:buAutoNum type="arabicPlain"/>
              <a:tabLst>
                <a:tab pos="168275" algn="l"/>
              </a:tabLst>
            </a:pPr>
            <a:r>
              <a:rPr sz="900" dirty="0">
                <a:latin typeface="Tahoma"/>
                <a:cs typeface="Tahoma"/>
              </a:rPr>
              <a:t>|</a:t>
            </a:r>
            <a:r>
              <a:rPr sz="900" spc="204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SELECTIVE</a:t>
            </a:r>
            <a:r>
              <a:rPr sz="900" spc="204" dirty="0">
                <a:latin typeface="Tahoma"/>
                <a:cs typeface="Tahoma"/>
              </a:rPr>
              <a:t> </a:t>
            </a:r>
            <a:r>
              <a:rPr sz="900" spc="60" dirty="0">
                <a:latin typeface="Tahoma"/>
                <a:cs typeface="Tahoma"/>
              </a:rPr>
              <a:t>CAPTURE</a:t>
            </a:r>
            <a:r>
              <a:rPr sz="900" spc="204" dirty="0">
                <a:latin typeface="Tahoma"/>
                <a:cs typeface="Tahoma"/>
              </a:rPr>
              <a:t> </a:t>
            </a:r>
            <a:r>
              <a:rPr sz="900" spc="85" dirty="0">
                <a:latin typeface="Tahoma"/>
                <a:cs typeface="Tahoma"/>
              </a:rPr>
              <a:t>&amp;</a:t>
            </a:r>
            <a:r>
              <a:rPr sz="900" spc="204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PRECONCENTRATION</a:t>
            </a:r>
            <a:r>
              <a:rPr sz="900" spc="204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Immobilized</a:t>
            </a:r>
            <a:endParaRPr sz="900">
              <a:latin typeface="Tahoma"/>
              <a:cs typeface="Tahoma"/>
            </a:endParaRPr>
          </a:p>
          <a:p>
            <a:pPr marL="12700" marR="40005">
              <a:lnSpc>
                <a:spcPct val="113100"/>
              </a:lnSpc>
            </a:pPr>
            <a:r>
              <a:rPr sz="900" spc="-25" dirty="0">
                <a:latin typeface="Tahoma"/>
                <a:cs typeface="Tahoma"/>
              </a:rPr>
              <a:t>Quaternary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Ammonium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Sorbent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Sequesters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anionic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from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wastewater </a:t>
            </a:r>
            <a:r>
              <a:rPr sz="900" spc="-10" dirty="0">
                <a:latin typeface="Tahoma"/>
                <a:cs typeface="Tahoma"/>
              </a:rPr>
              <a:t>through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electrostatic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interactions,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followed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by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elution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obtain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a </a:t>
            </a:r>
            <a:r>
              <a:rPr sz="900" spc="-25" dirty="0">
                <a:latin typeface="Tahoma"/>
                <a:cs typeface="Tahoma"/>
              </a:rPr>
              <a:t>concentrated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contaminant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stream.</a:t>
            </a:r>
            <a:endParaRPr sz="900">
              <a:latin typeface="Tahoma"/>
              <a:cs typeface="Tahoma"/>
            </a:endParaRPr>
          </a:p>
          <a:p>
            <a:pPr marL="12700" marR="255270" indent="155575">
              <a:lnSpc>
                <a:spcPct val="113100"/>
              </a:lnSpc>
              <a:buAutoNum type="arabicPlain" startAt="2"/>
              <a:tabLst>
                <a:tab pos="168275" algn="l"/>
              </a:tabLst>
            </a:pPr>
            <a:r>
              <a:rPr sz="900" dirty="0">
                <a:latin typeface="Tahoma"/>
                <a:cs typeface="Tahoma"/>
              </a:rPr>
              <a:t>|</a:t>
            </a:r>
            <a:r>
              <a:rPr sz="900" spc="254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ELECTROCHEMICAL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DESTRUCTION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CeO2-Modified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Titanium Electrode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Employs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20" dirty="0">
                <a:latin typeface="Tahoma"/>
                <a:cs typeface="Tahoma"/>
              </a:rPr>
              <a:t> applied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electrical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potential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facilitate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PFAS </a:t>
            </a:r>
            <a:r>
              <a:rPr sz="900" spc="-25" dirty="0">
                <a:latin typeface="Tahoma"/>
                <a:cs typeface="Tahoma"/>
              </a:rPr>
              <a:t>degradation,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targeting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C–F </a:t>
            </a:r>
            <a:r>
              <a:rPr sz="900" spc="-10" dirty="0">
                <a:latin typeface="Tahoma"/>
                <a:cs typeface="Tahoma"/>
              </a:rPr>
              <a:t>bond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cleavage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defluorination.</a:t>
            </a:r>
            <a:endParaRPr sz="900">
              <a:latin typeface="Tahoma"/>
              <a:cs typeface="Tahoma"/>
            </a:endParaRPr>
          </a:p>
          <a:p>
            <a:pPr marL="168275" indent="-155575">
              <a:lnSpc>
                <a:spcPct val="100000"/>
              </a:lnSpc>
              <a:spcBef>
                <a:spcPts val="140"/>
              </a:spcBef>
              <a:buAutoNum type="arabicPlain" startAt="2"/>
              <a:tabLst>
                <a:tab pos="168275" algn="l"/>
              </a:tabLst>
            </a:pPr>
            <a:r>
              <a:rPr sz="900" dirty="0">
                <a:latin typeface="Tahoma"/>
                <a:cs typeface="Tahoma"/>
              </a:rPr>
              <a:t>|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MAGNETIC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POLISHING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spc="85" dirty="0">
                <a:latin typeface="Tahoma"/>
                <a:cs typeface="Tahoma"/>
              </a:rPr>
              <a:t>&amp;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spc="45" dirty="0">
                <a:latin typeface="Tahoma"/>
                <a:cs typeface="Tahoma"/>
              </a:rPr>
              <a:t>RECOVERY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Fe3O4@ZIF-</a:t>
            </a:r>
            <a:r>
              <a:rPr sz="900" dirty="0">
                <a:latin typeface="Tahoma"/>
                <a:cs typeface="Tahoma"/>
              </a:rPr>
              <a:t>8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Composite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13100"/>
              </a:lnSpc>
            </a:pPr>
            <a:r>
              <a:rPr sz="900" spc="-10" dirty="0">
                <a:latin typeface="Tahoma"/>
                <a:cs typeface="Tahoma"/>
              </a:rPr>
              <a:t>Provides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supplementary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adsorption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residual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contaminants,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magnetic </a:t>
            </a:r>
            <a:r>
              <a:rPr sz="900" spc="-25" dirty="0">
                <a:latin typeface="Tahoma"/>
                <a:cs typeface="Tahoma"/>
              </a:rPr>
              <a:t>separation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enabling </a:t>
            </a:r>
            <a:r>
              <a:rPr sz="900" dirty="0">
                <a:latin typeface="Tahoma"/>
                <a:cs typeface="Tahoma"/>
              </a:rPr>
              <a:t>potential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sorbent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recovery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reuse.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10" dirty="0">
                <a:latin typeface="Tahoma"/>
                <a:cs typeface="Tahoma"/>
              </a:rPr>
              <a:t>Proposed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train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works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20" dirty="0">
                <a:latin typeface="Tahoma"/>
                <a:cs typeface="Tahoma"/>
              </a:rPr>
              <a:t> capture </a:t>
            </a:r>
            <a:r>
              <a:rPr sz="900" dirty="0">
                <a:latin typeface="Tahoma"/>
                <a:cs typeface="Tahoma"/>
              </a:rPr>
              <a:t>→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destroy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→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polish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system</a:t>
            </a:r>
            <a:endParaRPr sz="900">
              <a:latin typeface="Tahoma"/>
              <a:cs typeface="Tahoma"/>
            </a:endParaRPr>
          </a:p>
          <a:p>
            <a:pPr marL="12700" marR="240029">
              <a:lnSpc>
                <a:spcPct val="113100"/>
              </a:lnSpc>
              <a:spcBef>
                <a:spcPts val="1000"/>
              </a:spcBef>
            </a:pPr>
            <a:r>
              <a:rPr sz="900" dirty="0">
                <a:latin typeface="Tahoma"/>
                <a:cs typeface="Tahoma"/>
              </a:rPr>
              <a:t>The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main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user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value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lower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exposure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risk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more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practical treatment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workflow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269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55" dirty="0"/>
              <a:t>Technical</a:t>
            </a:r>
            <a:r>
              <a:rPr spc="80" dirty="0"/>
              <a:t> </a:t>
            </a:r>
            <a:r>
              <a:rPr spc="-120" dirty="0"/>
              <a:t>Approach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20193" y="414376"/>
            <a:ext cx="3568065" cy="1741170"/>
            <a:chOff x="520193" y="414376"/>
            <a:chExt cx="3568065" cy="1741170"/>
          </a:xfrm>
        </p:grpSpPr>
        <p:sp>
          <p:nvSpPr>
            <p:cNvPr id="7" name="object 7"/>
            <p:cNvSpPr/>
            <p:nvPr/>
          </p:nvSpPr>
          <p:spPr>
            <a:xfrm>
              <a:off x="525254" y="419437"/>
              <a:ext cx="3557904" cy="1731010"/>
            </a:xfrm>
            <a:custGeom>
              <a:avLst/>
              <a:gdLst/>
              <a:ahLst/>
              <a:cxnLst/>
              <a:rect l="l" t="t" r="r" b="b"/>
              <a:pathLst>
                <a:path w="3557904" h="1731010">
                  <a:moveTo>
                    <a:pt x="350687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80155"/>
                  </a:lnTo>
                  <a:lnTo>
                    <a:pt x="3977" y="1699855"/>
                  </a:lnTo>
                  <a:lnTo>
                    <a:pt x="14823" y="1715942"/>
                  </a:lnTo>
                  <a:lnTo>
                    <a:pt x="30910" y="1726789"/>
                  </a:lnTo>
                  <a:lnTo>
                    <a:pt x="50610" y="1730766"/>
                  </a:lnTo>
                  <a:lnTo>
                    <a:pt x="3506872" y="1730766"/>
                  </a:lnTo>
                  <a:lnTo>
                    <a:pt x="3526572" y="1726789"/>
                  </a:lnTo>
                  <a:lnTo>
                    <a:pt x="3542660" y="1715942"/>
                  </a:lnTo>
                  <a:lnTo>
                    <a:pt x="3553506" y="1699855"/>
                  </a:lnTo>
                  <a:lnTo>
                    <a:pt x="3557483" y="1680155"/>
                  </a:lnTo>
                  <a:lnTo>
                    <a:pt x="3557483" y="50610"/>
                  </a:lnTo>
                  <a:lnTo>
                    <a:pt x="3553506" y="30910"/>
                  </a:lnTo>
                  <a:lnTo>
                    <a:pt x="3542660" y="14823"/>
                  </a:lnTo>
                  <a:lnTo>
                    <a:pt x="3526572" y="3977"/>
                  </a:lnTo>
                  <a:lnTo>
                    <a:pt x="3506872" y="0"/>
                  </a:lnTo>
                  <a:close/>
                </a:path>
              </a:pathLst>
            </a:custGeom>
            <a:solidFill>
              <a:srgbClr val="F1F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254" y="419437"/>
              <a:ext cx="3557904" cy="1731010"/>
            </a:xfrm>
            <a:custGeom>
              <a:avLst/>
              <a:gdLst/>
              <a:ahLst/>
              <a:cxnLst/>
              <a:rect l="l" t="t" r="r" b="b"/>
              <a:pathLst>
                <a:path w="3557904" h="1731010">
                  <a:moveTo>
                    <a:pt x="350687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80155"/>
                  </a:lnTo>
                  <a:lnTo>
                    <a:pt x="3977" y="1699855"/>
                  </a:lnTo>
                  <a:lnTo>
                    <a:pt x="14823" y="1715942"/>
                  </a:lnTo>
                  <a:lnTo>
                    <a:pt x="30910" y="1726789"/>
                  </a:lnTo>
                  <a:lnTo>
                    <a:pt x="50610" y="1730766"/>
                  </a:lnTo>
                  <a:lnTo>
                    <a:pt x="3506872" y="1730766"/>
                  </a:lnTo>
                  <a:lnTo>
                    <a:pt x="3526572" y="1726789"/>
                  </a:lnTo>
                  <a:lnTo>
                    <a:pt x="3542660" y="1715942"/>
                  </a:lnTo>
                  <a:lnTo>
                    <a:pt x="3553506" y="1699855"/>
                  </a:lnTo>
                  <a:lnTo>
                    <a:pt x="3557483" y="1680155"/>
                  </a:lnTo>
                  <a:lnTo>
                    <a:pt x="3557483" y="50610"/>
                  </a:lnTo>
                  <a:lnTo>
                    <a:pt x="3553506" y="30910"/>
                  </a:lnTo>
                  <a:lnTo>
                    <a:pt x="3542660" y="14823"/>
                  </a:lnTo>
                  <a:lnTo>
                    <a:pt x="3526572" y="3977"/>
                  </a:lnTo>
                  <a:lnTo>
                    <a:pt x="3506872" y="0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602" y="495365"/>
              <a:ext cx="2894673" cy="1578912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273189" y="2677236"/>
            <a:ext cx="3881754" cy="779145"/>
          </a:xfrm>
          <a:custGeom>
            <a:avLst/>
            <a:gdLst/>
            <a:ahLst/>
            <a:cxnLst/>
            <a:rect l="l" t="t" r="r" b="b"/>
            <a:pathLst>
              <a:path w="3881754" h="779145">
                <a:moveTo>
                  <a:pt x="3881666" y="44411"/>
                </a:moveTo>
                <a:lnTo>
                  <a:pt x="3880358" y="44411"/>
                </a:lnTo>
                <a:lnTo>
                  <a:pt x="3877653" y="31076"/>
                </a:lnTo>
                <a:lnTo>
                  <a:pt x="3866743" y="14922"/>
                </a:lnTo>
                <a:lnTo>
                  <a:pt x="3850589" y="4013"/>
                </a:lnTo>
                <a:lnTo>
                  <a:pt x="38308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11"/>
                </a:lnTo>
                <a:lnTo>
                  <a:pt x="0" y="44411"/>
                </a:lnTo>
                <a:lnTo>
                  <a:pt x="0" y="50800"/>
                </a:lnTo>
                <a:lnTo>
                  <a:pt x="0" y="82384"/>
                </a:lnTo>
                <a:lnTo>
                  <a:pt x="0" y="778764"/>
                </a:lnTo>
                <a:lnTo>
                  <a:pt x="3881666" y="778764"/>
                </a:lnTo>
                <a:lnTo>
                  <a:pt x="3881666" y="82384"/>
                </a:lnTo>
                <a:lnTo>
                  <a:pt x="3881666" y="50800"/>
                </a:lnTo>
                <a:lnTo>
                  <a:pt x="3881666" y="44411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1294" y="2316783"/>
            <a:ext cx="3772535" cy="103631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96925" marR="5080" indent="-751205">
              <a:lnSpc>
                <a:spcPct val="104600"/>
              </a:lnSpc>
              <a:spcBef>
                <a:spcPts val="50"/>
              </a:spcBef>
            </a:pPr>
            <a:r>
              <a:rPr sz="800" spc="-10" dirty="0">
                <a:latin typeface="Arial"/>
                <a:cs typeface="Arial"/>
              </a:rPr>
              <a:t>Wastewater </a:t>
            </a:r>
            <a:r>
              <a:rPr sz="800" spc="-30" dirty="0">
                <a:latin typeface="Arial"/>
                <a:cs typeface="Arial"/>
              </a:rPr>
              <a:t>undergoes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pre-</a:t>
            </a:r>
            <a:r>
              <a:rPr sz="800" dirty="0">
                <a:latin typeface="Arial"/>
                <a:cs typeface="Arial"/>
              </a:rPr>
              <a:t>concentration,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electrochemical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defluorination and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metal </a:t>
            </a:r>
            <a:r>
              <a:rPr sz="800" dirty="0">
                <a:latin typeface="Arial"/>
                <a:cs typeface="Arial"/>
              </a:rPr>
              <a:t>polishing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via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successive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continuous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flow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reactions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114" dirty="0">
                <a:latin typeface="Arial Black"/>
                <a:cs typeface="Arial Black"/>
              </a:rPr>
              <a:t>Process</a:t>
            </a:r>
            <a:r>
              <a:rPr sz="800" spc="60" dirty="0">
                <a:latin typeface="Arial Black"/>
                <a:cs typeface="Arial Black"/>
              </a:rPr>
              <a:t> </a:t>
            </a:r>
            <a:r>
              <a:rPr sz="800" spc="-10" dirty="0">
                <a:latin typeface="Arial Black"/>
                <a:cs typeface="Arial Black"/>
              </a:rPr>
              <a:t>Setup</a:t>
            </a:r>
            <a:endParaRPr sz="800">
              <a:latin typeface="Arial Black"/>
              <a:cs typeface="Arial Black"/>
            </a:endParaRPr>
          </a:p>
          <a:p>
            <a:pPr marL="12700" marR="885190">
              <a:lnSpc>
                <a:spcPct val="104600"/>
              </a:lnSpc>
              <a:spcBef>
                <a:spcPts val="235"/>
              </a:spcBef>
              <a:tabLst>
                <a:tab pos="1273175" algn="l"/>
              </a:tabLst>
            </a:pPr>
            <a:r>
              <a:rPr sz="800" spc="-55" dirty="0">
                <a:latin typeface="Arial Black"/>
                <a:cs typeface="Arial Black"/>
              </a:rPr>
              <a:t>Module</a:t>
            </a:r>
            <a:r>
              <a:rPr sz="800" spc="65" dirty="0">
                <a:latin typeface="Arial Black"/>
                <a:cs typeface="Arial Black"/>
              </a:rPr>
              <a:t> </a:t>
            </a:r>
            <a:r>
              <a:rPr sz="800" dirty="0">
                <a:latin typeface="Arial Black"/>
                <a:cs typeface="Arial Black"/>
              </a:rPr>
              <a:t>1:</a:t>
            </a:r>
            <a:r>
              <a:rPr sz="800" spc="245" dirty="0">
                <a:latin typeface="Arial Black"/>
                <a:cs typeface="Arial Black"/>
              </a:rPr>
              <a:t> </a:t>
            </a:r>
            <a:r>
              <a:rPr sz="800" spc="-10" dirty="0">
                <a:latin typeface="Arial"/>
                <a:cs typeface="Arial"/>
              </a:rPr>
              <a:t>Quarternary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75" dirty="0">
                <a:latin typeface="Arial Black"/>
                <a:cs typeface="Arial Black"/>
              </a:rPr>
              <a:t>Module</a:t>
            </a:r>
            <a:r>
              <a:rPr sz="800" spc="5" dirty="0">
                <a:latin typeface="Arial Black"/>
                <a:cs typeface="Arial Black"/>
              </a:rPr>
              <a:t> </a:t>
            </a:r>
            <a:r>
              <a:rPr sz="800" dirty="0">
                <a:latin typeface="Arial Black"/>
                <a:cs typeface="Arial Black"/>
              </a:rPr>
              <a:t>2:</a:t>
            </a:r>
            <a:r>
              <a:rPr sz="800" spc="60" dirty="0">
                <a:latin typeface="Arial Black"/>
                <a:cs typeface="Arial Black"/>
              </a:rPr>
              <a:t> </a:t>
            </a:r>
            <a:r>
              <a:rPr sz="800" spc="-10" dirty="0">
                <a:latin typeface="Arial"/>
                <a:cs typeface="Arial"/>
              </a:rPr>
              <a:t>Electrochemical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Reactor </a:t>
            </a:r>
            <a:r>
              <a:rPr sz="800" dirty="0">
                <a:latin typeface="Arial"/>
                <a:cs typeface="Arial"/>
              </a:rPr>
              <a:t>Ammonium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Sorbent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spc="-60" dirty="0">
                <a:latin typeface="Arial Black"/>
                <a:cs typeface="Arial Black"/>
              </a:rPr>
              <a:t>Module</a:t>
            </a:r>
            <a:r>
              <a:rPr sz="800" spc="20" dirty="0">
                <a:latin typeface="Arial Black"/>
                <a:cs typeface="Arial Black"/>
              </a:rPr>
              <a:t> </a:t>
            </a:r>
            <a:r>
              <a:rPr sz="800" dirty="0">
                <a:latin typeface="Arial Black"/>
                <a:cs typeface="Arial Black"/>
              </a:rPr>
              <a:t>3:</a:t>
            </a:r>
            <a:r>
              <a:rPr sz="800" spc="150" dirty="0">
                <a:latin typeface="Arial Black"/>
                <a:cs typeface="Arial Black"/>
              </a:rPr>
              <a:t> </a:t>
            </a:r>
            <a:r>
              <a:rPr sz="800" spc="-10" dirty="0">
                <a:latin typeface="Arial"/>
                <a:cs typeface="Arial"/>
              </a:rPr>
              <a:t>Fe3O4@ZIF-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3994" y="3330670"/>
            <a:ext cx="53975" cy="148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800" spc="-75" dirty="0">
                <a:latin typeface="Arial"/>
                <a:cs typeface="Arial"/>
              </a:rPr>
              <a:t>8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20" dirty="0"/>
              <a:t>Innovation</a:t>
            </a:r>
            <a:r>
              <a:rPr spc="25" dirty="0"/>
              <a:t> </a:t>
            </a:r>
            <a:r>
              <a:rPr dirty="0"/>
              <a:t>&amp;</a:t>
            </a:r>
            <a:r>
              <a:rPr spc="5" dirty="0"/>
              <a:t> </a:t>
            </a:r>
            <a:r>
              <a:rPr spc="-145" dirty="0"/>
              <a:t>Uniqueness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4208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63412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22615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5106" y="949188"/>
            <a:ext cx="3630929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3200">
              <a:lnSpc>
                <a:spcPct val="113100"/>
              </a:lnSpc>
              <a:spcBef>
                <a:spcPts val="100"/>
              </a:spcBef>
            </a:pPr>
            <a:r>
              <a:rPr sz="900" dirty="0">
                <a:latin typeface="Tahoma"/>
                <a:cs typeface="Tahoma"/>
              </a:rPr>
              <a:t>Key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Innovation:</a:t>
            </a:r>
            <a:r>
              <a:rPr sz="900" spc="105" dirty="0">
                <a:latin typeface="Tahoma"/>
                <a:cs typeface="Tahoma"/>
              </a:rPr>
              <a:t> </a:t>
            </a:r>
            <a:r>
              <a:rPr sz="900" spc="75" dirty="0">
                <a:latin typeface="Tahoma"/>
                <a:cs typeface="Tahoma"/>
              </a:rPr>
              <a:t>A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functionally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integrated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architecture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that </a:t>
            </a:r>
            <a:r>
              <a:rPr sz="900" spc="-35" dirty="0">
                <a:latin typeface="Tahoma"/>
                <a:cs typeface="Tahoma"/>
              </a:rPr>
              <a:t>segregates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capture,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destruction,</a:t>
            </a:r>
            <a:r>
              <a:rPr sz="900" spc="-10" dirty="0">
                <a:latin typeface="Tahoma"/>
                <a:cs typeface="Tahoma"/>
              </a:rPr>
              <a:t> and polishing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minimize material </a:t>
            </a:r>
            <a:r>
              <a:rPr sz="900" spc="-30" dirty="0">
                <a:latin typeface="Tahoma"/>
                <a:cs typeface="Tahoma"/>
              </a:rPr>
              <a:t>interference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support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process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optimization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future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scalability.</a:t>
            </a:r>
            <a:endParaRPr sz="900">
              <a:latin typeface="Tahoma"/>
              <a:cs typeface="Tahoma"/>
            </a:endParaRPr>
          </a:p>
          <a:p>
            <a:pPr marL="12700" marR="26034">
              <a:lnSpc>
                <a:spcPct val="113100"/>
              </a:lnSpc>
              <a:spcBef>
                <a:spcPts val="994"/>
              </a:spcBef>
            </a:pPr>
            <a:r>
              <a:rPr sz="900" dirty="0">
                <a:latin typeface="Tahoma"/>
                <a:cs typeface="Tahoma"/>
              </a:rPr>
              <a:t>It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reduces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risk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nanoparticle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toxicity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by</a:t>
            </a:r>
            <a:r>
              <a:rPr sz="900" spc="-10" dirty="0">
                <a:latin typeface="Tahoma"/>
                <a:cs typeface="Tahoma"/>
              </a:rPr>
              <a:t> treating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-10" dirty="0">
                <a:latin typeface="Tahoma"/>
                <a:cs typeface="Tahoma"/>
              </a:rPr>
              <a:t> concentrated solution </a:t>
            </a:r>
            <a:r>
              <a:rPr sz="900" spc="-20" dirty="0">
                <a:latin typeface="Tahoma"/>
                <a:cs typeface="Tahoma"/>
              </a:rPr>
              <a:t>instead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wastewater.</a:t>
            </a:r>
            <a:r>
              <a:rPr sz="900" spc="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It</a:t>
            </a:r>
            <a:r>
              <a:rPr sz="900" spc="-10" dirty="0">
                <a:latin typeface="Tahoma"/>
                <a:cs typeface="Tahoma"/>
              </a:rPr>
              <a:t> also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captures</a:t>
            </a:r>
            <a:r>
              <a:rPr sz="900" spc="-10" dirty="0">
                <a:latin typeface="Tahoma"/>
                <a:cs typeface="Tahoma"/>
              </a:rPr>
              <a:t> short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chain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and </a:t>
            </a:r>
            <a:r>
              <a:rPr sz="900" spc="-10" dirty="0">
                <a:latin typeface="Tahoma"/>
                <a:cs typeface="Tahoma"/>
              </a:rPr>
              <a:t>Fluoroalkyl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radicals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using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Fe3O4@ZIF-</a:t>
            </a:r>
            <a:r>
              <a:rPr sz="900" dirty="0">
                <a:latin typeface="Tahoma"/>
                <a:cs typeface="Tahoma"/>
              </a:rPr>
              <a:t>8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Composite.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sz="900" dirty="0">
                <a:latin typeface="Tahoma"/>
                <a:cs typeface="Tahoma"/>
              </a:rPr>
              <a:t>It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derives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effective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way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overcome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limitations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existing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solutions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by </a:t>
            </a:r>
            <a:r>
              <a:rPr sz="900" spc="-20" dirty="0">
                <a:latin typeface="Tahoma"/>
                <a:cs typeface="Tahoma"/>
              </a:rPr>
              <a:t>using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them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unison.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35" dirty="0"/>
              <a:t>Feasibility</a:t>
            </a:r>
            <a:r>
              <a:rPr spc="30" dirty="0"/>
              <a:t> </a:t>
            </a:r>
            <a:r>
              <a:rPr dirty="0"/>
              <a:t>&amp;</a:t>
            </a:r>
            <a:r>
              <a:rPr spc="35" dirty="0"/>
              <a:t> </a:t>
            </a:r>
            <a:r>
              <a:rPr spc="-114" dirty="0"/>
              <a:t>Scalability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66967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72722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93993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9706" y="564112"/>
            <a:ext cx="3872865" cy="24638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 marR="271145">
              <a:lnSpc>
                <a:spcPct val="113100"/>
              </a:lnSpc>
              <a:spcBef>
                <a:spcPts val="200"/>
              </a:spcBef>
            </a:pPr>
            <a:r>
              <a:rPr sz="900" spc="-95" dirty="0">
                <a:latin typeface="Arial Black"/>
                <a:cs typeface="Arial Black"/>
              </a:rPr>
              <a:t>Feasibility:</a:t>
            </a:r>
            <a:r>
              <a:rPr sz="900" spc="50" dirty="0">
                <a:latin typeface="Arial Black"/>
                <a:cs typeface="Arial Black"/>
              </a:rPr>
              <a:t> </a:t>
            </a:r>
            <a:r>
              <a:rPr sz="900" dirty="0">
                <a:latin typeface="Tahoma"/>
                <a:cs typeface="Tahoma"/>
              </a:rPr>
              <a:t>Our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project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proposes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electrochemical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method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PFAS </a:t>
            </a:r>
            <a:r>
              <a:rPr sz="1350" spc="-30" baseline="6172" dirty="0">
                <a:latin typeface="Tahoma"/>
                <a:cs typeface="Tahoma"/>
              </a:rPr>
              <a:t>destruction</a:t>
            </a:r>
            <a:r>
              <a:rPr sz="1350" spc="-15" baseline="6172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using</a:t>
            </a:r>
            <a:r>
              <a:rPr sz="1350" spc="-15" baseline="6172" dirty="0">
                <a:latin typeface="Tahoma"/>
                <a:cs typeface="Tahoma"/>
              </a:rPr>
              <a:t> cerium </a:t>
            </a:r>
            <a:r>
              <a:rPr sz="1350" spc="-37" baseline="6172" dirty="0">
                <a:latin typeface="Tahoma"/>
                <a:cs typeface="Tahoma"/>
              </a:rPr>
              <a:t>oxide</a:t>
            </a:r>
            <a:r>
              <a:rPr sz="1350" spc="-15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(CeO</a:t>
            </a:r>
            <a:r>
              <a:rPr sz="600" dirty="0">
                <a:latin typeface="Arial"/>
                <a:cs typeface="Arial"/>
              </a:rPr>
              <a:t>2</a:t>
            </a:r>
            <a:r>
              <a:rPr sz="1350" baseline="6172" dirty="0">
                <a:latin typeface="Tahoma"/>
                <a:cs typeface="Tahoma"/>
              </a:rPr>
              <a:t>).</a:t>
            </a:r>
            <a:r>
              <a:rPr sz="1350" spc="120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It</a:t>
            </a:r>
            <a:r>
              <a:rPr sz="1350" spc="-7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aims</a:t>
            </a:r>
            <a:r>
              <a:rPr sz="1350" spc="-15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to</a:t>
            </a:r>
            <a:r>
              <a:rPr sz="1350" spc="-15" baseline="6172" dirty="0">
                <a:latin typeface="Tahoma"/>
                <a:cs typeface="Tahom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break</a:t>
            </a:r>
            <a:r>
              <a:rPr sz="1350" spc="-15" baseline="6172" dirty="0">
                <a:latin typeface="Tahoma"/>
                <a:cs typeface="Tahoma"/>
              </a:rPr>
              <a:t> strong</a:t>
            </a:r>
            <a:r>
              <a:rPr sz="1350" spc="750" baseline="6172" dirty="0">
                <a:latin typeface="Tahoma"/>
                <a:cs typeface="Tahoma"/>
              </a:rPr>
              <a:t>  </a:t>
            </a:r>
            <a:r>
              <a:rPr sz="900" spc="-35" dirty="0">
                <a:latin typeface="Tahoma"/>
                <a:cs typeface="Tahoma"/>
              </a:rPr>
              <a:t>carbon–</a:t>
            </a:r>
            <a:r>
              <a:rPr sz="900" spc="-25" dirty="0">
                <a:latin typeface="Tahoma"/>
                <a:cs typeface="Tahoma"/>
              </a:rPr>
              <a:t>fluorine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(C–F)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bonds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at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relatively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low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operating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potential.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The </a:t>
            </a:r>
            <a:r>
              <a:rPr sz="900" spc="-30" dirty="0">
                <a:latin typeface="Tahoma"/>
                <a:cs typeface="Tahoma"/>
              </a:rPr>
              <a:t>process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explores</a:t>
            </a:r>
            <a:r>
              <a:rPr sz="900" dirty="0">
                <a:latin typeface="Tahoma"/>
                <a:cs typeface="Tahoma"/>
              </a:rPr>
              <a:t> the catalytic </a:t>
            </a:r>
            <a:r>
              <a:rPr sz="900" spc="-25" dirty="0">
                <a:latin typeface="Tahoma"/>
                <a:cs typeface="Tahoma"/>
              </a:rPr>
              <a:t>properties</a:t>
            </a:r>
            <a:r>
              <a:rPr sz="900" dirty="0">
                <a:latin typeface="Tahoma"/>
                <a:cs typeface="Tahoma"/>
              </a:rPr>
              <a:t> of CeO to </a:t>
            </a:r>
            <a:r>
              <a:rPr sz="900" spc="-20" dirty="0">
                <a:latin typeface="Tahoma"/>
                <a:cs typeface="Tahoma"/>
              </a:rPr>
              <a:t>support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PFAS degradation.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Its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performance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depends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electrode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material,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applied potential,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pH,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time.</a:t>
            </a:r>
            <a:endParaRPr sz="900">
              <a:latin typeface="Tahoma"/>
              <a:cs typeface="Tahoma"/>
            </a:endParaRPr>
          </a:p>
          <a:p>
            <a:pPr marL="38100" marR="30480">
              <a:lnSpc>
                <a:spcPct val="113100"/>
              </a:lnSpc>
              <a:spcBef>
                <a:spcPts val="994"/>
              </a:spcBef>
            </a:pPr>
            <a:r>
              <a:rPr sz="900" spc="-90" dirty="0">
                <a:latin typeface="Arial Black"/>
                <a:cs typeface="Arial Black"/>
              </a:rPr>
              <a:t>Scalability:</a:t>
            </a:r>
            <a:r>
              <a:rPr sz="900" spc="50" dirty="0">
                <a:latin typeface="Arial Black"/>
                <a:cs typeface="Arial Black"/>
              </a:rPr>
              <a:t> </a:t>
            </a:r>
            <a:r>
              <a:rPr sz="900" spc="-10" dirty="0">
                <a:latin typeface="Tahoma"/>
                <a:cs typeface="Tahoma"/>
              </a:rPr>
              <a:t>Expanding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CeO-</a:t>
            </a:r>
            <a:r>
              <a:rPr sz="900" spc="-10" dirty="0">
                <a:latin typeface="Tahoma"/>
                <a:cs typeface="Tahoma"/>
              </a:rPr>
              <a:t>assisted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electrochemical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treatment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system </a:t>
            </a:r>
            <a:r>
              <a:rPr sz="900" dirty="0">
                <a:latin typeface="Tahoma"/>
                <a:cs typeface="Tahoma"/>
              </a:rPr>
              <a:t>from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small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prototype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industrial-</a:t>
            </a:r>
            <a:r>
              <a:rPr sz="900" spc="-10" dirty="0">
                <a:latin typeface="Tahoma"/>
                <a:cs typeface="Tahoma"/>
              </a:rPr>
              <a:t>scale </a:t>
            </a:r>
            <a:r>
              <a:rPr sz="900" spc="-30" dirty="0">
                <a:latin typeface="Tahoma"/>
                <a:cs typeface="Tahoma"/>
              </a:rPr>
              <a:t>wastewater</a:t>
            </a:r>
            <a:r>
              <a:rPr sz="900" spc="-10" dirty="0">
                <a:latin typeface="Tahoma"/>
                <a:cs typeface="Tahoma"/>
              </a:rPr>
              <a:t> treatment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unit. </a:t>
            </a:r>
            <a:r>
              <a:rPr sz="900" spc="-35" dirty="0">
                <a:latin typeface="Tahoma"/>
                <a:cs typeface="Tahoma"/>
              </a:rPr>
              <a:t>Increasing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reactor</a:t>
            </a:r>
            <a:r>
              <a:rPr sz="900" spc="-10" dirty="0">
                <a:latin typeface="Tahoma"/>
                <a:cs typeface="Tahoma"/>
              </a:rPr>
              <a:t> capacity 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using</a:t>
            </a:r>
            <a:r>
              <a:rPr sz="900" spc="-10" dirty="0">
                <a:latin typeface="Tahoma"/>
                <a:cs typeface="Tahoma"/>
              </a:rPr>
              <a:t> multiple </a:t>
            </a:r>
            <a:r>
              <a:rPr sz="900" spc="-25" dirty="0">
                <a:latin typeface="Tahoma"/>
                <a:cs typeface="Tahoma"/>
              </a:rPr>
              <a:t>electrodes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treat</a:t>
            </a:r>
            <a:r>
              <a:rPr sz="900" spc="-10" dirty="0">
                <a:latin typeface="Tahoma"/>
                <a:cs typeface="Tahoma"/>
              </a:rPr>
              <a:t> larger </a:t>
            </a:r>
            <a:r>
              <a:rPr sz="900" spc="-20" dirty="0">
                <a:latin typeface="Tahoma"/>
                <a:cs typeface="Tahoma"/>
              </a:rPr>
              <a:t>volumes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wastewater.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Optimizing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distribution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cerium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oxide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(CeO)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on electrode</a:t>
            </a:r>
            <a:r>
              <a:rPr sz="900" spc="-30" dirty="0">
                <a:latin typeface="Tahoma"/>
                <a:cs typeface="Tahoma"/>
              </a:rPr>
              <a:t> surfaces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improved performance.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Maintaining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suitable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operating </a:t>
            </a:r>
            <a:r>
              <a:rPr sz="900" dirty="0">
                <a:latin typeface="Tahoma"/>
                <a:cs typeface="Tahoma"/>
              </a:rPr>
              <a:t>potential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time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during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scale-</a:t>
            </a:r>
            <a:r>
              <a:rPr sz="900" dirty="0">
                <a:latin typeface="Tahoma"/>
                <a:cs typeface="Tahoma"/>
              </a:rPr>
              <a:t>up.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Designing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modular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 </a:t>
            </a:r>
            <a:r>
              <a:rPr sz="900" dirty="0">
                <a:latin typeface="Tahoma"/>
                <a:cs typeface="Tahoma"/>
              </a:rPr>
              <a:t>units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can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be</a:t>
            </a:r>
            <a:r>
              <a:rPr sz="900" spc="-25" dirty="0">
                <a:latin typeface="Tahoma"/>
                <a:cs typeface="Tahoma"/>
              </a:rPr>
              <a:t> connected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wastewater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volume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increases.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900" spc="-110" dirty="0">
                <a:latin typeface="Arial Black"/>
                <a:cs typeface="Arial Black"/>
              </a:rPr>
              <a:t>Risks:</a:t>
            </a:r>
            <a:r>
              <a:rPr sz="900" spc="70" dirty="0">
                <a:latin typeface="Arial Black"/>
                <a:cs typeface="Arial Black"/>
              </a:rPr>
              <a:t> </a:t>
            </a:r>
            <a:r>
              <a:rPr sz="900" spc="-30" dirty="0">
                <a:latin typeface="Tahoma"/>
                <a:cs typeface="Tahoma"/>
              </a:rPr>
              <a:t>Incomplete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Mineralization, Short Chain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 </a:t>
            </a:r>
            <a:r>
              <a:rPr sz="900" spc="-20" dirty="0">
                <a:latin typeface="Tahoma"/>
                <a:cs typeface="Tahoma"/>
              </a:rPr>
              <a:t>may</a:t>
            </a:r>
            <a:r>
              <a:rPr sz="900" dirty="0">
                <a:latin typeface="Tahoma"/>
                <a:cs typeface="Tahoma"/>
              </a:rPr>
              <a:t> slip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through.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25" dirty="0"/>
              <a:t>Cost</a:t>
            </a:r>
            <a:r>
              <a:rPr spc="35" dirty="0"/>
              <a:t> </a:t>
            </a:r>
            <a:r>
              <a:rPr spc="-105" dirty="0"/>
              <a:t>for</a:t>
            </a:r>
            <a:r>
              <a:rPr spc="40" dirty="0"/>
              <a:t> </a:t>
            </a:r>
            <a:r>
              <a:rPr spc="-110" dirty="0"/>
              <a:t>Product</a:t>
            </a:r>
            <a:r>
              <a:rPr spc="40" dirty="0"/>
              <a:t> </a:t>
            </a:r>
            <a:r>
              <a:rPr spc="-70" dirty="0"/>
              <a:t>(Optional)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34989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63158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19132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5106" y="1275519"/>
            <a:ext cx="2306320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Tahoma"/>
                <a:cs typeface="Tahoma"/>
              </a:rPr>
              <a:t>Development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hardware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cost: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[Add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estimate]</a:t>
            </a:r>
            <a:endParaRPr sz="900">
              <a:latin typeface="Tahoma"/>
              <a:cs typeface="Tahoma"/>
            </a:endParaRPr>
          </a:p>
          <a:p>
            <a:pPr marL="12700" marR="90170">
              <a:lnSpc>
                <a:spcPct val="205399"/>
              </a:lnSpc>
            </a:pPr>
            <a:r>
              <a:rPr sz="900" dirty="0">
                <a:latin typeface="Tahoma"/>
                <a:cs typeface="Tahoma"/>
              </a:rPr>
              <a:t>Hosting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maintenance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cost:</a:t>
            </a:r>
            <a:r>
              <a:rPr sz="900" spc="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[Add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estimate] </a:t>
            </a:r>
            <a:r>
              <a:rPr sz="900" spc="-10" dirty="0">
                <a:latin typeface="Tahoma"/>
                <a:cs typeface="Tahoma"/>
              </a:rPr>
              <a:t>Estimated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total: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[Add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amount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and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currency]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70" dirty="0"/>
              <a:t>Use</a:t>
            </a:r>
            <a:r>
              <a:rPr spc="30" dirty="0"/>
              <a:t> </a:t>
            </a:r>
            <a:r>
              <a:rPr spc="-190" dirty="0"/>
              <a:t>Cases</a:t>
            </a:r>
            <a:r>
              <a:rPr spc="30" dirty="0"/>
              <a:t> </a:t>
            </a:r>
            <a:r>
              <a:rPr sz="900" spc="-20" dirty="0">
                <a:latin typeface="Tahoma"/>
                <a:cs typeface="Tahoma"/>
              </a:rPr>
              <a:t>(compulsorily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3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use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cases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must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there)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35242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63412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191580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5106" y="1278046"/>
            <a:ext cx="2639695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Use</a:t>
            </a:r>
            <a:r>
              <a:rPr sz="900" spc="-35" dirty="0">
                <a:latin typeface="Tahoma"/>
                <a:cs typeface="Tahoma"/>
              </a:rPr>
              <a:t> case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1: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Wastewater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plants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Tahoma"/>
                <a:cs typeface="Tahoma"/>
              </a:rPr>
              <a:t>Use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case </a:t>
            </a:r>
            <a:r>
              <a:rPr sz="900" dirty="0">
                <a:latin typeface="Tahoma"/>
                <a:cs typeface="Tahoma"/>
              </a:rPr>
              <a:t>2:</a:t>
            </a:r>
            <a:r>
              <a:rPr sz="900" spc="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Textile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industries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Tahoma"/>
                <a:cs typeface="Tahoma"/>
              </a:rPr>
              <a:t>Use</a:t>
            </a:r>
            <a:r>
              <a:rPr sz="900" spc="-35" dirty="0">
                <a:latin typeface="Tahoma"/>
                <a:cs typeface="Tahoma"/>
              </a:rPr>
              <a:t> case </a:t>
            </a:r>
            <a:r>
              <a:rPr sz="900" dirty="0">
                <a:latin typeface="Tahoma"/>
                <a:cs typeface="Tahoma"/>
              </a:rPr>
              <a:t>3: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Firefighting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Aviation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training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centres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70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50" dirty="0"/>
              <a:t>Impacts</a:t>
            </a:r>
            <a:r>
              <a:rPr spc="60" dirty="0"/>
              <a:t> </a:t>
            </a:r>
            <a:r>
              <a:rPr spc="-150" dirty="0"/>
              <a:t>and</a:t>
            </a:r>
            <a:r>
              <a:rPr spc="65" dirty="0"/>
              <a:t> </a:t>
            </a:r>
            <a:r>
              <a:rPr spc="-105" dirty="0"/>
              <a:t>Benefits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1794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50997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25718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5106" y="825046"/>
            <a:ext cx="3818890" cy="183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115">
              <a:lnSpc>
                <a:spcPct val="113100"/>
              </a:lnSpc>
              <a:spcBef>
                <a:spcPts val="100"/>
              </a:spcBef>
            </a:pPr>
            <a:r>
              <a:rPr sz="900" dirty="0">
                <a:latin typeface="Tahoma"/>
                <a:cs typeface="Tahoma"/>
              </a:rPr>
              <a:t>The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proposal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gives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users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capture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-&gt;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destroy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-&gt;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polish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 </a:t>
            </a:r>
            <a:r>
              <a:rPr sz="900" dirty="0">
                <a:latin typeface="Tahoma"/>
                <a:cs typeface="Tahoma"/>
              </a:rPr>
              <a:t>train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that </a:t>
            </a:r>
            <a:r>
              <a:rPr sz="900" spc="-30" dirty="0">
                <a:latin typeface="Tahoma"/>
                <a:cs typeface="Tahoma"/>
              </a:rPr>
              <a:t>reduces</a:t>
            </a:r>
            <a:r>
              <a:rPr sz="900" dirty="0">
                <a:latin typeface="Tahoma"/>
                <a:cs typeface="Tahoma"/>
              </a:rPr>
              <a:t> PFAS </a:t>
            </a:r>
            <a:r>
              <a:rPr sz="900" spc="-35" dirty="0">
                <a:latin typeface="Tahoma"/>
                <a:cs typeface="Tahoma"/>
              </a:rPr>
              <a:t>exposure</a:t>
            </a:r>
            <a:r>
              <a:rPr sz="900" dirty="0">
                <a:latin typeface="Tahoma"/>
                <a:cs typeface="Tahoma"/>
              </a:rPr>
              <a:t> risk </a:t>
            </a:r>
            <a:r>
              <a:rPr sz="900" spc="-10" dirty="0">
                <a:latin typeface="Tahoma"/>
                <a:cs typeface="Tahoma"/>
              </a:rPr>
              <a:t>while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making</a:t>
            </a:r>
            <a:r>
              <a:rPr sz="900" dirty="0">
                <a:latin typeface="Tahoma"/>
                <a:cs typeface="Tahoma"/>
              </a:rPr>
              <a:t> the </a:t>
            </a:r>
            <a:r>
              <a:rPr sz="900" spc="-20" dirty="0">
                <a:latin typeface="Tahoma"/>
                <a:cs typeface="Tahoma"/>
              </a:rPr>
              <a:t>electrochemical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step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more </a:t>
            </a:r>
            <a:r>
              <a:rPr sz="900" dirty="0">
                <a:latin typeface="Tahoma"/>
                <a:cs typeface="Tahoma"/>
              </a:rPr>
              <a:t>practical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by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treating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concentrated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stream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rather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than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dilute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wastewater</a:t>
            </a:r>
            <a:endParaRPr sz="900">
              <a:latin typeface="Tahoma"/>
              <a:cs typeface="Tahoma"/>
            </a:endParaRPr>
          </a:p>
          <a:p>
            <a:pPr marL="12700" marR="163195">
              <a:lnSpc>
                <a:spcPct val="113100"/>
              </a:lnSpc>
              <a:spcBef>
                <a:spcPts val="994"/>
              </a:spcBef>
            </a:pPr>
            <a:r>
              <a:rPr sz="900" dirty="0">
                <a:latin typeface="Tahoma"/>
                <a:cs typeface="Tahoma"/>
              </a:rPr>
              <a:t>It</a:t>
            </a:r>
            <a:r>
              <a:rPr sz="900" spc="-25" dirty="0">
                <a:latin typeface="Tahoma"/>
                <a:cs typeface="Tahoma"/>
              </a:rPr>
              <a:t> supports </a:t>
            </a:r>
            <a:r>
              <a:rPr sz="900" spc="-20" dirty="0">
                <a:latin typeface="Tahoma"/>
                <a:cs typeface="Tahoma"/>
              </a:rPr>
              <a:t>cleaner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water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reuse/discharge,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lowers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burden through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preconcentration,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helps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water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operators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manage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 </a:t>
            </a:r>
            <a:r>
              <a:rPr sz="900" spc="-20" dirty="0">
                <a:latin typeface="Tahoma"/>
                <a:cs typeface="Tahoma"/>
              </a:rPr>
              <a:t>more safely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real-</a:t>
            </a:r>
            <a:r>
              <a:rPr sz="900" spc="-20" dirty="0">
                <a:latin typeface="Tahoma"/>
                <a:cs typeface="Tahoma"/>
              </a:rPr>
              <a:t>world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matrices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where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short-</a:t>
            </a:r>
            <a:r>
              <a:rPr sz="900" dirty="0">
                <a:latin typeface="Tahoma"/>
                <a:cs typeface="Tahoma"/>
              </a:rPr>
              <a:t>chain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co-</a:t>
            </a:r>
            <a:r>
              <a:rPr sz="900" spc="-10" dirty="0">
                <a:latin typeface="Tahoma"/>
                <a:cs typeface="Tahoma"/>
              </a:rPr>
              <a:t>contaminants complicate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treatment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sz="900" spc="-20" dirty="0">
                <a:latin typeface="Tahoma"/>
                <a:cs typeface="Tahoma"/>
              </a:rPr>
              <a:t>Measurable</a:t>
            </a:r>
            <a:r>
              <a:rPr sz="900" dirty="0">
                <a:latin typeface="Tahoma"/>
                <a:cs typeface="Tahoma"/>
              </a:rPr>
              <a:t> outputs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should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include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higher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PFAS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removal/defluorination,</a:t>
            </a:r>
            <a:r>
              <a:rPr sz="900" spc="50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lower </a:t>
            </a:r>
            <a:r>
              <a:rPr sz="900" spc="-35" dirty="0">
                <a:latin typeface="Tahoma"/>
                <a:cs typeface="Tahoma"/>
              </a:rPr>
              <a:t>energy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use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per</a:t>
            </a:r>
            <a:r>
              <a:rPr sz="900" spc="-20" dirty="0">
                <a:latin typeface="Tahoma"/>
                <a:cs typeface="Tahoma"/>
              </a:rPr>
              <a:t> volume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treated, </a:t>
            </a:r>
            <a:r>
              <a:rPr sz="900" spc="-30" dirty="0">
                <a:latin typeface="Tahoma"/>
                <a:cs typeface="Tahoma"/>
              </a:rPr>
              <a:t>reduced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residual </a:t>
            </a:r>
            <a:r>
              <a:rPr sz="900" dirty="0">
                <a:latin typeface="Tahoma"/>
                <a:cs typeface="Tahoma"/>
              </a:rPr>
              <a:t>PFAS/byproducts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after polishing,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and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verified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fluoride</a:t>
            </a:r>
            <a:r>
              <a:rPr sz="900" spc="-25" dirty="0">
                <a:latin typeface="Tahoma"/>
                <a:cs typeface="Tahoma"/>
              </a:rPr>
              <a:t> balance </a:t>
            </a:r>
            <a:r>
              <a:rPr sz="900" dirty="0">
                <a:latin typeface="Tahoma"/>
                <a:cs typeface="Tahoma"/>
              </a:rPr>
              <a:t>plus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lower </a:t>
            </a:r>
            <a:r>
              <a:rPr sz="900" dirty="0">
                <a:latin typeface="Tahoma"/>
                <a:cs typeface="Tahoma"/>
              </a:rPr>
              <a:t>toxicity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final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effluent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550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45" dirty="0">
                <a:solidFill>
                  <a:srgbClr val="154B33"/>
                </a:solidFill>
                <a:latin typeface="Arial Black"/>
                <a:cs typeface="Arial Black"/>
              </a:rPr>
              <a:t>Sustainable</a:t>
            </a:r>
            <a:r>
              <a:rPr sz="1100" spc="10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130" dirty="0">
                <a:solidFill>
                  <a:srgbClr val="154B33"/>
                </a:solidFill>
                <a:latin typeface="Arial Black"/>
                <a:cs typeface="Arial Black"/>
              </a:rPr>
              <a:t>Development</a:t>
            </a:r>
            <a:r>
              <a:rPr sz="1100" spc="10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155" dirty="0">
                <a:solidFill>
                  <a:srgbClr val="154B33"/>
                </a:solidFill>
                <a:latin typeface="Arial Black"/>
                <a:cs typeface="Arial Black"/>
              </a:rPr>
              <a:t>Goals</a:t>
            </a:r>
            <a:r>
              <a:rPr sz="1100" spc="10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40" dirty="0">
                <a:solidFill>
                  <a:srgbClr val="154B33"/>
                </a:solidFill>
                <a:latin typeface="Arial Black"/>
                <a:cs typeface="Arial Black"/>
              </a:rPr>
              <a:t>(SDGs)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4002" y="1032218"/>
          <a:ext cx="4036695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Target</a:t>
                      </a:r>
                      <a:r>
                        <a:rPr sz="900" spc="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50" dirty="0">
                          <a:latin typeface="Arial Black"/>
                          <a:cs typeface="Arial Black"/>
                        </a:rPr>
                        <a:t>9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Target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[9]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05104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Industry,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Innovation</a:t>
                      </a:r>
                      <a:r>
                        <a:rPr sz="9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and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92075">
                        <a:lnSpc>
                          <a:spcPct val="1131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Deals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industry 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wastewater</a:t>
                      </a:r>
                      <a:r>
                        <a:rPr sz="9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problems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25" dirty="0">
                          <a:latin typeface="Arial Black"/>
                          <a:cs typeface="Arial Black"/>
                        </a:rPr>
                        <a:t>14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Target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[14]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Life</a:t>
                      </a:r>
                      <a:r>
                        <a:rPr sz="9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under</a:t>
                      </a:r>
                      <a:r>
                        <a:rPr sz="9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water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94945" algn="just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Life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under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water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is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negatively</a:t>
                      </a:r>
                      <a:r>
                        <a:rPr sz="9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affected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due</a:t>
                      </a:r>
                      <a:r>
                        <a:rPr sz="9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PFAS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0580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0" dirty="0">
                <a:solidFill>
                  <a:srgbClr val="154B33"/>
                </a:solidFill>
                <a:latin typeface="Arial Black"/>
                <a:cs typeface="Arial Black"/>
              </a:rPr>
              <a:t>Individual</a:t>
            </a:r>
            <a:r>
              <a:rPr sz="1100" spc="5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154B33"/>
                </a:solidFill>
                <a:latin typeface="Arial Black"/>
                <a:cs typeface="Arial Black"/>
              </a:rPr>
              <a:t>Member</a:t>
            </a:r>
            <a:r>
              <a:rPr sz="1100" spc="6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154B33"/>
                </a:solidFill>
                <a:latin typeface="Arial Black"/>
                <a:cs typeface="Arial Black"/>
              </a:rPr>
              <a:t>Contribution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7182" y="939393"/>
          <a:ext cx="3750310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Contribution</a:t>
                      </a:r>
                      <a:r>
                        <a:rPr sz="900" spc="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</a:t>
                      </a:r>
                      <a:r>
                        <a:rPr sz="900" spc="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responsibility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10" dirty="0">
                          <a:latin typeface="Arial Black"/>
                          <a:cs typeface="Arial Black"/>
                        </a:rPr>
                        <a:t>S</a:t>
                      </a:r>
                      <a:r>
                        <a:rPr sz="900" spc="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latin typeface="Arial Black"/>
                          <a:cs typeface="Arial Black"/>
                        </a:rPr>
                        <a:t>Sahana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Proposed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Solution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Uniqueness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the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Idea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5" dirty="0">
                          <a:latin typeface="Arial Black"/>
                          <a:cs typeface="Arial Black"/>
                        </a:rPr>
                        <a:t>Naman</a:t>
                      </a:r>
                      <a:r>
                        <a:rPr sz="900" spc="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latin typeface="Arial Black"/>
                          <a:cs typeface="Arial Black"/>
                        </a:rPr>
                        <a:t>Goyal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Key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Challenges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 and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Existing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 Solutions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14" dirty="0">
                          <a:latin typeface="Arial Black"/>
                          <a:cs typeface="Arial Black"/>
                        </a:rPr>
                        <a:t>Varunya</a:t>
                      </a:r>
                      <a:r>
                        <a:rPr sz="900" spc="6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50" dirty="0">
                          <a:latin typeface="Arial Black"/>
                          <a:cs typeface="Arial Black"/>
                        </a:rPr>
                        <a:t>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Problem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Statement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Understanding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Arial Black"/>
                          <a:cs typeface="Arial Black"/>
                        </a:rPr>
                        <a:t>R</a:t>
                      </a:r>
                      <a:r>
                        <a:rPr sz="900" spc="-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latin typeface="Arial Black"/>
                          <a:cs typeface="Arial Black"/>
                        </a:rPr>
                        <a:t>Subashini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Feasibility</a:t>
                      </a:r>
                      <a:r>
                        <a:rPr sz="9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9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Use</a:t>
                      </a:r>
                      <a:r>
                        <a:rPr sz="9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Cases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563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0" dirty="0">
                <a:solidFill>
                  <a:srgbClr val="154B33"/>
                </a:solidFill>
                <a:latin typeface="Arial Black"/>
                <a:cs typeface="Arial Black"/>
              </a:rPr>
              <a:t>Yukti</a:t>
            </a:r>
            <a:r>
              <a:rPr sz="1100" spc="2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154B33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35977" y="1277596"/>
            <a:ext cx="2736215" cy="828040"/>
          </a:xfrm>
          <a:custGeom>
            <a:avLst/>
            <a:gdLst/>
            <a:ahLst/>
            <a:cxnLst/>
            <a:rect l="l" t="t" r="r" b="b"/>
            <a:pathLst>
              <a:path w="2736215" h="828039">
                <a:moveTo>
                  <a:pt x="2660120" y="0"/>
                </a:moveTo>
                <a:lnTo>
                  <a:pt x="75916" y="0"/>
                </a:lnTo>
                <a:lnTo>
                  <a:pt x="46365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52095"/>
                </a:lnTo>
                <a:lnTo>
                  <a:pt x="5965" y="781645"/>
                </a:lnTo>
                <a:lnTo>
                  <a:pt x="22235" y="805776"/>
                </a:lnTo>
                <a:lnTo>
                  <a:pt x="46365" y="822045"/>
                </a:lnTo>
                <a:lnTo>
                  <a:pt x="75916" y="828011"/>
                </a:lnTo>
                <a:lnTo>
                  <a:pt x="2660120" y="828011"/>
                </a:lnTo>
                <a:lnTo>
                  <a:pt x="2689670" y="822045"/>
                </a:lnTo>
                <a:lnTo>
                  <a:pt x="2713801" y="805776"/>
                </a:lnTo>
                <a:lnTo>
                  <a:pt x="2730071" y="781645"/>
                </a:lnTo>
                <a:lnTo>
                  <a:pt x="2736036" y="752095"/>
                </a:lnTo>
                <a:lnTo>
                  <a:pt x="2736036" y="75916"/>
                </a:lnTo>
                <a:lnTo>
                  <a:pt x="2730071" y="46366"/>
                </a:lnTo>
                <a:lnTo>
                  <a:pt x="2713801" y="22235"/>
                </a:lnTo>
                <a:lnTo>
                  <a:pt x="2689670" y="5965"/>
                </a:lnTo>
                <a:lnTo>
                  <a:pt x="2660120" y="0"/>
                </a:lnTo>
                <a:close/>
              </a:path>
            </a:pathLst>
          </a:custGeom>
          <a:ln w="15183">
            <a:solidFill>
              <a:srgbClr val="226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20813" y="1180064"/>
            <a:ext cx="766445" cy="180340"/>
          </a:xfrm>
          <a:custGeom>
            <a:avLst/>
            <a:gdLst/>
            <a:ahLst/>
            <a:cxnLst/>
            <a:rect l="l" t="t" r="r" b="b"/>
            <a:pathLst>
              <a:path w="766444" h="180340">
                <a:moveTo>
                  <a:pt x="71575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29269"/>
                </a:lnTo>
                <a:lnTo>
                  <a:pt x="3977" y="148970"/>
                </a:lnTo>
                <a:lnTo>
                  <a:pt x="14823" y="165057"/>
                </a:lnTo>
                <a:lnTo>
                  <a:pt x="30910" y="175903"/>
                </a:lnTo>
                <a:lnTo>
                  <a:pt x="50610" y="179880"/>
                </a:lnTo>
                <a:lnTo>
                  <a:pt x="715753" y="179880"/>
                </a:lnTo>
                <a:lnTo>
                  <a:pt x="735454" y="175903"/>
                </a:lnTo>
                <a:lnTo>
                  <a:pt x="751541" y="165057"/>
                </a:lnTo>
                <a:lnTo>
                  <a:pt x="762387" y="148970"/>
                </a:lnTo>
                <a:lnTo>
                  <a:pt x="766364" y="129269"/>
                </a:lnTo>
                <a:lnTo>
                  <a:pt x="766364" y="50610"/>
                </a:lnTo>
                <a:lnTo>
                  <a:pt x="762387" y="30910"/>
                </a:lnTo>
                <a:lnTo>
                  <a:pt x="751541" y="14823"/>
                </a:lnTo>
                <a:lnTo>
                  <a:pt x="735454" y="3977"/>
                </a:lnTo>
                <a:lnTo>
                  <a:pt x="715753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70125" y="1182974"/>
            <a:ext cx="4679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0" dirty="0">
                <a:solidFill>
                  <a:srgbClr val="FFFFFF"/>
                </a:solidFill>
                <a:latin typeface="Arial Black"/>
                <a:cs typeface="Arial Black"/>
              </a:rPr>
              <a:t>Yukti</a:t>
            </a:r>
            <a:r>
              <a:rPr sz="9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Black"/>
                <a:cs typeface="Arial Black"/>
              </a:rPr>
              <a:t>ID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7092" y="1557749"/>
            <a:ext cx="1773886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1700" spc="-190" dirty="0">
                <a:solidFill>
                  <a:srgbClr val="154B33"/>
                </a:solidFill>
                <a:latin typeface="Arial Black"/>
                <a:cs typeface="Arial Black"/>
              </a:rPr>
              <a:t>IR2026-1051944</a:t>
            </a:r>
            <a:endParaRPr sz="17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45" dirty="0"/>
              <a:t>[GEN26-A0H-</a:t>
            </a:r>
            <a:r>
              <a:rPr spc="-30" dirty="0"/>
              <a:t>I125]</a:t>
            </a:r>
            <a:r>
              <a:rPr spc="50" dirty="0"/>
              <a:t> </a:t>
            </a:r>
            <a:r>
              <a:rPr dirty="0"/>
              <a:t>|</a:t>
            </a:r>
            <a:r>
              <a:rPr spc="50" dirty="0"/>
              <a:t> </a:t>
            </a:r>
            <a:r>
              <a:rPr spc="-50" dirty="0"/>
              <a:t>[Phoenix]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4B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1196</Words>
  <Application>Microsoft Office PowerPoint</Application>
  <PresentationFormat>Custom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Gill Sans MT</vt:lpstr>
      <vt:lpstr>Tahoma</vt:lpstr>
      <vt:lpstr>Times New Roman</vt:lpstr>
      <vt:lpstr>Office Theme</vt:lpstr>
      <vt:lpstr>Electrochemical De-fluorination and Magnetic Polishing of PFAS using Continuous Flow Reactors</vt:lpstr>
      <vt:lpstr>Presentation Outline</vt:lpstr>
      <vt:lpstr>Problem Statement</vt:lpstr>
      <vt:lpstr>Problem Understanding</vt:lpstr>
      <vt:lpstr>Existing Gaps &amp; Challenges</vt:lpstr>
      <vt:lpstr>Our Proposed Solution</vt:lpstr>
      <vt:lpstr>Technical Approach</vt:lpstr>
      <vt:lpstr>Innovation &amp; Uniqueness</vt:lpstr>
      <vt:lpstr>Feasibility &amp; Scalability</vt:lpstr>
      <vt:lpstr>Cost for Product (Optional)</vt:lpstr>
      <vt:lpstr>Use Cases (compulsorily 3 use cases must be there)</vt:lpstr>
      <vt:lpstr>Impacts and Benefits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Electrochemical De-fluorination and Magnetic Polishing of PFAS using Continuous Flow Reactors</dc:title>
  <dc:creator>Team ID: GEN26-A0H-I125[0.2cm] Team Name: Team Phoenix[0.2cm] Domain 3</dc:creator>
  <cp:lastModifiedBy>Naman Goyal</cp:lastModifiedBy>
  <cp:revision>1</cp:revision>
  <dcterms:created xsi:type="dcterms:W3CDTF">2026-10-13T11:45:35Z</dcterms:created>
  <dcterms:modified xsi:type="dcterms:W3CDTF">2026-10-13T11:49:04Z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2026-10-13T00:00:00Z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