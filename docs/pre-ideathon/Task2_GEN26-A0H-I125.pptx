
<file path=[Content_Types].xml><?xml version="1.0" encoding="utf-8"?>
<Types xmlns="http://schemas.openxmlformats.org/package/2006/content-types">
  <Default Extension="org&amp;utm_campaign=parser&amp;utm_content=thumbnail"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6316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org&amp;utm_campaign=parser&amp;utm_content=thumbnai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1046832" y="1466722"/>
            <a:ext cx="337874" cy="292608"/>
          </a:xfrm>
          <a:prstGeom prst="hexagon">
            <a:avLst/>
          </a:prstGeom>
          <a:solidFill>
            <a:schemeClr val="accent3">
              <a:alpha val="70000"/>
            </a:schemeClr>
          </a:solidFill>
          <a:ln/>
        </p:spPr>
      </p:sp>
      <p:sp>
        <p:nvSpPr>
          <p:cNvPr id="7" name="Cover Hexagon"/>
          <p:cNvSpPr/>
          <p:nvPr/>
        </p:nvSpPr>
        <p:spPr>
          <a:xfrm rot="5400000">
            <a:off x="7372301" y="1425072"/>
            <a:ext cx="4276224" cy="3703320"/>
          </a:xfrm>
          <a:prstGeom prst="hexagon">
            <a:avLst/>
          </a:prstGeom>
          <a:solidFill>
            <a:schemeClr val="accent1">
              <a:alpha val="45000"/>
            </a:schemeClr>
          </a:solidFill>
          <a:ln/>
        </p:spPr>
      </p:sp>
      <p:sp>
        <p:nvSpPr>
          <p:cNvPr id="8" name="Cover Hexagon"/>
          <p:cNvSpPr/>
          <p:nvPr/>
        </p:nvSpPr>
        <p:spPr>
          <a:xfrm rot="5400000">
            <a:off x="7672056" y="50793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652865" y="1691640"/>
            <a:ext cx="3695502" cy="3200400"/>
          </a:xfrm>
          <a:prstGeom prst="hexagon">
            <a:avLst/>
          </a:prstGeom>
          <a:solidFill>
            <a:schemeClr val="bg1"/>
          </a:solidFill>
          <a:ln w="38100">
            <a:solidFill>
              <a:schemeClr val="accent3"/>
            </a:solidFill>
            <a:prstDash val="solid"/>
          </a:ln>
        </p:spPr>
        <p:txBody>
          <a:bodyPr/>
          <a:lstStyle/>
          <a:p>
            <a:endParaRPr lang="en-IN" dirty="0"/>
          </a:p>
        </p:txBody>
      </p:sp>
      <p:pic>
        <p:nvPicPr>
          <p:cNvPr id="10" name="Genesis Logo" descr="Genesis logo"/>
          <p:cNvPicPr>
            <a:picLocks noChangeAspect="1"/>
          </p:cNvPicPr>
          <p:nvPr/>
        </p:nvPicPr>
        <p:blipFill>
          <a:blip r:embed="rId3"/>
          <a:stretch>
            <a:fillRect/>
          </a:stretch>
        </p:blipFill>
        <p:spPr>
          <a:xfrm>
            <a:off x="8614339" y="2075688"/>
            <a:ext cx="1792148" cy="2331720"/>
          </a:xfrm>
          <a:prstGeom prst="rect">
            <a:avLst/>
          </a:prstGeom>
        </p:spPr>
      </p:pic>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endParaRPr lang="en-US" sz="1300" dirty="0"/>
          </a:p>
        </p:txBody>
      </p:sp>
      <p:sp>
        <p:nvSpPr>
          <p:cNvPr id="15" name="Cover Fields"/>
          <p:cNvSpPr txBox="1"/>
          <p:nvPr/>
        </p:nvSpPr>
        <p:spPr>
          <a:xfrm>
            <a:off x="297218" y="3078096"/>
            <a:ext cx="7066276"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PHOENIX</a:t>
            </a:r>
            <a:endParaRPr lang="en-US" sz="1800" dirty="0"/>
          </a:p>
          <a:p>
            <a:pPr marL="279400" indent="-279400">
              <a:spcAft>
                <a:spcPts val="1400"/>
              </a:spcAft>
              <a:buClr>
                <a:schemeClr val="accent3"/>
              </a:buClr>
              <a:buSzPct val="100000"/>
              <a:buChar char="•"/>
            </a:pPr>
            <a:r>
              <a:rPr lang="en-US" sz="1800" dirty="0">
                <a:solidFill>
                  <a:schemeClr val="bg1"/>
                </a:solidFill>
              </a:rPr>
              <a:t>Team Members – S Sahana[Leader][CB.EN.U4CHE25056],R </a:t>
            </a:r>
            <a:r>
              <a:rPr lang="en-US" dirty="0">
                <a:solidFill>
                  <a:schemeClr val="bg1"/>
                </a:solidFill>
              </a:rPr>
              <a:t>Subashini[CB.EN.U4CHE25036],R Varunya[CB.EN.U4CHE25049],Naman Goyal[CB.EN.U4CHE25029]</a:t>
            </a:r>
            <a:endParaRPr lang="en-US" sz="1800" dirty="0"/>
          </a:p>
          <a:p>
            <a:pPr marL="279400" indent="-279400">
              <a:spcAft>
                <a:spcPts val="1400"/>
              </a:spcAft>
              <a:buClr>
                <a:schemeClr val="accent3"/>
              </a:buClr>
              <a:buSzPct val="100000"/>
              <a:buChar char="•"/>
            </a:pPr>
            <a:r>
              <a:rPr lang="en-US" sz="1800" dirty="0">
                <a:solidFill>
                  <a:schemeClr val="bg1"/>
                </a:solidFill>
              </a:rPr>
              <a:t>Selected Domain – Domain 3</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IN" dirty="0">
                <a:solidFill>
                  <a:schemeClr val="bg1"/>
                </a:solidFill>
              </a:rPr>
              <a:t>The critical challenge is to develop a scalable  and economically viable PFAS destruction pathway capable of overcoming the thermodynamic and kinetic stability of the C–F bond, enabling controlled defluorination and near-complete mineralization of PFAS , while minimizing energy demand, secondary contamination and hazardous transformation </a:t>
            </a:r>
            <a:r>
              <a:rPr lang="en-IN" dirty="0" err="1">
                <a:solidFill>
                  <a:schemeClr val="bg1"/>
                </a:solidFill>
              </a:rPr>
              <a:t>products.</a:t>
            </a:r>
            <a:r>
              <a:rPr lang="en-IN" dirty="0" err="1"/>
              <a:t>maining</a:t>
            </a:r>
            <a:r>
              <a:rPr lang="en-IN" dirty="0"/>
              <a:t> economically viable for large-scale deployment.</a:t>
            </a:r>
            <a:endParaRPr lang="en-US" sz="1800" dirty="0"/>
          </a:p>
        </p:txBody>
      </p:sp>
      <p:sp>
        <p:nvSpPr>
          <p:cNvPr id="16" name="TextBox 15">
            <a:extLst>
              <a:ext uri="{FF2B5EF4-FFF2-40B4-BE49-F238E27FC236}">
                <a16:creationId xmlns:a16="http://schemas.microsoft.com/office/drawing/2014/main" id="{381A91CE-BC53-64DD-3EBE-5354EB6F1090}"/>
              </a:ext>
            </a:extLst>
          </p:cNvPr>
          <p:cNvSpPr txBox="1"/>
          <p:nvPr/>
        </p:nvSpPr>
        <p:spPr>
          <a:xfrm>
            <a:off x="684372" y="2613398"/>
            <a:ext cx="1831655" cy="369332"/>
          </a:xfrm>
          <a:prstGeom prst="rect">
            <a:avLst/>
          </a:prstGeom>
          <a:noFill/>
        </p:spPr>
        <p:txBody>
          <a:bodyPr wrap="none" rtlCol="0">
            <a:spAutoFit/>
          </a:bodyPr>
          <a:lstStyle/>
          <a:p>
            <a:r>
              <a:rPr lang="en-US" dirty="0">
                <a:solidFill>
                  <a:schemeClr val="bg1"/>
                </a:solidFill>
              </a:rPr>
              <a:t>TEAM &amp; DOMAIN</a:t>
            </a: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919549" y="110661"/>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a:t>
            </a:r>
            <a:endParaRPr lang="en-US" sz="2400" dirty="0"/>
          </a:p>
        </p:txBody>
      </p:sp>
      <p:sp>
        <p:nvSpPr>
          <p:cNvPr id="3" name="Team Badge"/>
          <p:cNvSpPr/>
          <p:nvPr/>
        </p:nvSpPr>
        <p:spPr>
          <a:xfrm>
            <a:off x="418945" y="94467"/>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470916" y="231627"/>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603504" y="304475"/>
            <a:ext cx="365760" cy="365760"/>
          </a:xfrm>
          <a:prstGeom prst="rect">
            <a:avLst/>
          </a:prstGeom>
        </p:spPr>
      </p:pic>
      <p:sp>
        <p:nvSpPr>
          <p:cNvPr id="6" name="Team Name"/>
          <p:cNvSpPr txBox="1"/>
          <p:nvPr/>
        </p:nvSpPr>
        <p:spPr>
          <a:xfrm>
            <a:off x="1276895" y="174669"/>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Phoenix</a:t>
            </a:r>
            <a:endParaRPr lang="en-US" sz="900" dirty="0"/>
          </a:p>
        </p:txBody>
      </p:sp>
      <p:sp>
        <p:nvSpPr>
          <p:cNvPr id="7" name="Lead Icon Hex"/>
          <p:cNvSpPr/>
          <p:nvPr/>
        </p:nvSpPr>
        <p:spPr>
          <a:xfrm>
            <a:off x="4547181" y="308208"/>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4626864" y="372907"/>
            <a:ext cx="274320" cy="274320"/>
          </a:xfrm>
          <a:prstGeom prst="rect">
            <a:avLst/>
          </a:prstGeom>
        </p:spPr>
      </p:pic>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graphicFrame>
        <p:nvGraphicFramePr>
          <p:cNvPr id="9" name="Table 8">
            <a:extLst>
              <a:ext uri="{FF2B5EF4-FFF2-40B4-BE49-F238E27FC236}">
                <a16:creationId xmlns:a16="http://schemas.microsoft.com/office/drawing/2014/main" id="{FB870529-3A72-CA61-EBAF-B369243ECAF8}"/>
              </a:ext>
            </a:extLst>
          </p:cNvPr>
          <p:cNvGraphicFramePr>
            <a:graphicFrameLocks noGrp="1"/>
          </p:cNvGraphicFramePr>
          <p:nvPr>
            <p:extLst>
              <p:ext uri="{D42A27DB-BD31-4B8C-83A1-F6EECF244321}">
                <p14:modId xmlns:p14="http://schemas.microsoft.com/office/powerpoint/2010/main" val="3290985217"/>
              </p:ext>
            </p:extLst>
          </p:nvPr>
        </p:nvGraphicFramePr>
        <p:xfrm>
          <a:off x="279918" y="1161288"/>
          <a:ext cx="11523306" cy="5217160"/>
        </p:xfrm>
        <a:graphic>
          <a:graphicData uri="http://schemas.openxmlformats.org/drawingml/2006/table">
            <a:tbl>
              <a:tblPr firstRow="1" bandRow="1">
                <a:tableStyleId>{5C22544A-7EE6-4342-B048-85BDC9FD1C3A}</a:tableStyleId>
              </a:tblPr>
              <a:tblGrid>
                <a:gridCol w="5761653">
                  <a:extLst>
                    <a:ext uri="{9D8B030D-6E8A-4147-A177-3AD203B41FA5}">
                      <a16:colId xmlns:a16="http://schemas.microsoft.com/office/drawing/2014/main" val="2751592759"/>
                    </a:ext>
                  </a:extLst>
                </a:gridCol>
                <a:gridCol w="5761653">
                  <a:extLst>
                    <a:ext uri="{9D8B030D-6E8A-4147-A177-3AD203B41FA5}">
                      <a16:colId xmlns:a16="http://schemas.microsoft.com/office/drawing/2014/main" val="198418956"/>
                    </a:ext>
                  </a:extLst>
                </a:gridCol>
              </a:tblGrid>
              <a:tr h="370840">
                <a:tc>
                  <a:txBody>
                    <a:bodyPr/>
                    <a:lstStyle/>
                    <a:p>
                      <a:r>
                        <a:rPr lang="en-IN" dirty="0"/>
                        <a:t>WHY NOW?</a:t>
                      </a:r>
                    </a:p>
                  </a:txBody>
                  <a:tcPr/>
                </a:tc>
                <a:tc>
                  <a:txBody>
                    <a:bodyPr/>
                    <a:lstStyle/>
                    <a:p>
                      <a:r>
                        <a:rPr lang="en-IN" dirty="0"/>
                        <a:t>WHAT NEEDS TO BE SOLVED?</a:t>
                      </a:r>
                    </a:p>
                  </a:txBody>
                  <a:tcPr/>
                </a:tc>
                <a:extLst>
                  <a:ext uri="{0D108BD9-81ED-4DB2-BD59-A6C34878D82A}">
                    <a16:rowId xmlns:a16="http://schemas.microsoft.com/office/drawing/2014/main" val="1241164562"/>
                  </a:ext>
                </a:extLst>
              </a:tr>
              <a:tr h="370840">
                <a:tc>
                  <a:txBody>
                    <a:bodyPr/>
                    <a:lstStyle/>
                    <a:p>
                      <a:r>
                        <a:rPr lang="en-IN" sz="1800" b="0" i="0" kern="1200" dirty="0">
                          <a:solidFill>
                            <a:schemeClr val="dk1"/>
                          </a:solidFill>
                          <a:effectLst/>
                          <a:latin typeface="+mn-lt"/>
                          <a:ea typeface="+mn-ea"/>
                          <a:cs typeface="+mn-cs"/>
                        </a:rPr>
                        <a:t>Forever chemicals — Exceptional C–F bond stability enables long-term persistence and circulation in water systems</a:t>
                      </a:r>
                      <a:endParaRPr lang="en-IN" dirty="0"/>
                    </a:p>
                  </a:txBody>
                  <a:tcPr/>
                </a:tc>
                <a:tc>
                  <a:txBody>
                    <a:bodyPr/>
                    <a:lstStyle/>
                    <a:p>
                      <a:r>
                        <a:rPr lang="en-IN" sz="1800" b="0" i="0" kern="1200" dirty="0">
                          <a:solidFill>
                            <a:schemeClr val="dk1"/>
                          </a:solidFill>
                          <a:effectLst/>
                          <a:latin typeface="+mn-lt"/>
                          <a:ea typeface="+mn-ea"/>
                          <a:cs typeface="+mn-cs"/>
                        </a:rPr>
                        <a:t>Break the backbone — Develop a pathway capable of overcoming PFAS’s highly stable C–F bonds.</a:t>
                      </a:r>
                      <a:endParaRPr lang="en-IN" dirty="0"/>
                    </a:p>
                  </a:txBody>
                  <a:tcPr/>
                </a:tc>
                <a:extLst>
                  <a:ext uri="{0D108BD9-81ED-4DB2-BD59-A6C34878D82A}">
                    <a16:rowId xmlns:a16="http://schemas.microsoft.com/office/drawing/2014/main" val="2492570140"/>
                  </a:ext>
                </a:extLst>
              </a:tr>
              <a:tr h="370840">
                <a:tc>
                  <a:txBody>
                    <a:bodyPr/>
                    <a:lstStyle/>
                    <a:p>
                      <a:r>
                        <a:rPr lang="en-IN" sz="1800" b="0" i="0" kern="1200" dirty="0">
                          <a:solidFill>
                            <a:schemeClr val="dk1"/>
                          </a:solidFill>
                          <a:effectLst/>
                          <a:latin typeface="+mn-lt"/>
                          <a:ea typeface="+mn-ea"/>
                          <a:cs typeface="+mn-cs"/>
                        </a:rPr>
                        <a:t>Removal ≠ destruction — Adsorption and membranes often transfer PFAS into secondary waste rather than eliminate it.</a:t>
                      </a:r>
                    </a:p>
                    <a:p>
                      <a:br>
                        <a:rPr lang="en-IN" dirty="0"/>
                      </a:br>
                      <a:endParaRPr lang="en-IN" dirty="0"/>
                    </a:p>
                  </a:txBody>
                  <a:tcPr/>
                </a:tc>
                <a:tc>
                  <a:txBody>
                    <a:bodyPr/>
                    <a:lstStyle/>
                    <a:p>
                      <a:r>
                        <a:rPr lang="en-IN" sz="1800" b="0" i="0" kern="1200" dirty="0">
                          <a:solidFill>
                            <a:schemeClr val="dk1"/>
                          </a:solidFill>
                          <a:effectLst/>
                          <a:latin typeface="+mn-lt"/>
                          <a:ea typeface="+mn-ea"/>
                          <a:cs typeface="+mn-cs"/>
                        </a:rPr>
                        <a:t>Achieve true destruction — Progress beyond fragmentation to defluorination and mineralization.</a:t>
                      </a:r>
                      <a:endParaRPr lang="en-IN" dirty="0"/>
                    </a:p>
                  </a:txBody>
                  <a:tcPr/>
                </a:tc>
                <a:extLst>
                  <a:ext uri="{0D108BD9-81ED-4DB2-BD59-A6C34878D82A}">
                    <a16:rowId xmlns:a16="http://schemas.microsoft.com/office/drawing/2014/main" val="1790308560"/>
                  </a:ext>
                </a:extLst>
              </a:tr>
              <a:tr h="370840">
                <a:tc>
                  <a:txBody>
                    <a:bodyPr/>
                    <a:lstStyle/>
                    <a:p>
                      <a:r>
                        <a:rPr lang="en-IN" sz="1800" b="0" i="0" kern="1200" dirty="0">
                          <a:solidFill>
                            <a:schemeClr val="dk1"/>
                          </a:solidFill>
                          <a:effectLst/>
                          <a:latin typeface="+mn-lt"/>
                          <a:ea typeface="+mn-ea"/>
                          <a:cs typeface="+mn-cs"/>
                        </a:rPr>
                        <a:t>Transformation risk — Incomplete degradation can generate persistent short-chain PFAS and other transformation products.</a:t>
                      </a:r>
                      <a:endParaRPr lang="en-IN" dirty="0"/>
                    </a:p>
                  </a:txBody>
                  <a:tcPr/>
                </a:tc>
                <a:tc>
                  <a:txBody>
                    <a:bodyPr/>
                    <a:lstStyle/>
                    <a:p>
                      <a:r>
                        <a:rPr lang="en-IN" sz="1800" b="0" i="0" kern="1200" dirty="0">
                          <a:solidFill>
                            <a:schemeClr val="dk1"/>
                          </a:solidFill>
                          <a:effectLst/>
                          <a:latin typeface="+mn-lt"/>
                          <a:ea typeface="+mn-ea"/>
                          <a:cs typeface="+mn-cs"/>
                        </a:rPr>
                        <a:t>Prevent secondary hazards — Minimize persistent by-products and concentrated waste streams.</a:t>
                      </a:r>
                      <a:endParaRPr lang="en-IN" dirty="0"/>
                    </a:p>
                  </a:txBody>
                  <a:tcPr/>
                </a:tc>
                <a:extLst>
                  <a:ext uri="{0D108BD9-81ED-4DB2-BD59-A6C34878D82A}">
                    <a16:rowId xmlns:a16="http://schemas.microsoft.com/office/drawing/2014/main" val="3544945771"/>
                  </a:ext>
                </a:extLst>
              </a:tr>
              <a:tr h="370840">
                <a:tc>
                  <a:txBody>
                    <a:bodyPr/>
                    <a:lstStyle/>
                    <a:p>
                      <a:r>
                        <a:rPr lang="en-IN" sz="1800" b="0" i="0" kern="1200" dirty="0">
                          <a:solidFill>
                            <a:schemeClr val="dk1"/>
                          </a:solidFill>
                          <a:effectLst/>
                          <a:latin typeface="+mn-lt"/>
                          <a:ea typeface="+mn-ea"/>
                          <a:cs typeface="+mn-cs"/>
                        </a:rPr>
                        <a:t>Scale-up gap — Existing destructive approaches can demand high energy, extreme conditions and specialized equipment.</a:t>
                      </a:r>
                      <a:endParaRPr lang="en-IN" dirty="0"/>
                    </a:p>
                  </a:txBody>
                  <a:tcPr/>
                </a:tc>
                <a:tc>
                  <a:txBody>
                    <a:bodyPr/>
                    <a:lstStyle/>
                    <a:p>
                      <a:r>
                        <a:rPr lang="en-IN" sz="1800" b="0" i="0" kern="1200" dirty="0">
                          <a:solidFill>
                            <a:schemeClr val="dk1"/>
                          </a:solidFill>
                          <a:effectLst/>
                          <a:latin typeface="+mn-lt"/>
                          <a:ea typeface="+mn-ea"/>
                          <a:cs typeface="+mn-cs"/>
                        </a:rPr>
                        <a:t>Make it practical — Reduce energy, reagent cost and process complexity while maintaining high destruction efficiency.</a:t>
                      </a:r>
                      <a:endParaRPr lang="en-IN" dirty="0"/>
                    </a:p>
                  </a:txBody>
                  <a:tcPr/>
                </a:tc>
                <a:extLst>
                  <a:ext uri="{0D108BD9-81ED-4DB2-BD59-A6C34878D82A}">
                    <a16:rowId xmlns:a16="http://schemas.microsoft.com/office/drawing/2014/main" val="777318462"/>
                  </a:ext>
                </a:extLst>
              </a:tr>
              <a:tr h="370840">
                <a:tc>
                  <a:txBody>
                    <a:bodyPr/>
                    <a:lstStyle/>
                    <a:p>
                      <a:r>
                        <a:rPr lang="en-IN" sz="1800" b="0" i="0" kern="1200" dirty="0">
                          <a:solidFill>
                            <a:schemeClr val="dk1"/>
                          </a:solidFill>
                          <a:effectLst/>
                          <a:latin typeface="+mn-lt"/>
                          <a:ea typeface="+mn-ea"/>
                          <a:cs typeface="+mn-cs"/>
                        </a:rPr>
                        <a:t>India needs scalable remediation — Growing contamination demands solutions suited to large and diverse water streams.</a:t>
                      </a:r>
                      <a:endParaRPr lang="en-IN" dirty="0"/>
                    </a:p>
                  </a:txBody>
                  <a:tcPr/>
                </a:tc>
                <a:tc>
                  <a:txBody>
                    <a:bodyPr/>
                    <a:lstStyle/>
                    <a:p>
                      <a:pPr rtl="0"/>
                      <a:r>
                        <a:rPr lang="en-IN" sz="1800" b="0" i="0" kern="1200" dirty="0">
                          <a:solidFill>
                            <a:schemeClr val="dk1"/>
                          </a:solidFill>
                          <a:effectLst/>
                          <a:latin typeface="+mn-lt"/>
                          <a:ea typeface="+mn-ea"/>
                          <a:cs typeface="+mn-cs"/>
                        </a:rPr>
                        <a:t>Enable deployment — Achieve continuous operation, diverse-water compatibility and economic scalability.</a:t>
                      </a:r>
                    </a:p>
                    <a:p>
                      <a:br>
                        <a:rPr lang="en-IN" dirty="0"/>
                      </a:br>
                      <a:endParaRPr lang="en-IN" dirty="0"/>
                    </a:p>
                  </a:txBody>
                  <a:tcPr/>
                </a:tc>
                <a:extLst>
                  <a:ext uri="{0D108BD9-81ED-4DB2-BD59-A6C34878D82A}">
                    <a16:rowId xmlns:a16="http://schemas.microsoft.com/office/drawing/2014/main" val="385278032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016252" y="140892"/>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214604" y="124414"/>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294894" y="213055"/>
            <a:ext cx="630936" cy="548640"/>
          </a:xfrm>
          <a:prstGeom prst="hexagon">
            <a:avLst/>
          </a:prstGeom>
          <a:solidFill>
            <a:schemeClr val="bg2"/>
          </a:solidFill>
          <a:ln w="9525">
            <a:solidFill>
              <a:schemeClr val="accent6"/>
            </a:solidFill>
            <a:prstDash val="solid"/>
          </a:ln>
        </p:spPr>
        <p:txBody>
          <a:bodyPr/>
          <a:lstStyle/>
          <a:p>
            <a:endParaRPr lang="en-IN" dirty="0"/>
          </a:p>
        </p:txBody>
      </p:sp>
      <p:pic>
        <p:nvPicPr>
          <p:cNvPr id="5" name="Team Icon" descr="Team icon"/>
          <p:cNvPicPr>
            <a:picLocks noChangeAspect="1"/>
          </p:cNvPicPr>
          <p:nvPr/>
        </p:nvPicPr>
        <p:blipFill>
          <a:blip r:embed="rId3"/>
          <a:stretch>
            <a:fillRect/>
          </a:stretch>
        </p:blipFill>
        <p:spPr>
          <a:xfrm>
            <a:off x="469773" y="305895"/>
            <a:ext cx="365760" cy="365760"/>
          </a:xfrm>
          <a:prstGeom prst="rect">
            <a:avLst/>
          </a:prstGeom>
        </p:spPr>
      </p:pic>
      <p:sp>
        <p:nvSpPr>
          <p:cNvPr id="6" name="Team Name"/>
          <p:cNvSpPr txBox="1"/>
          <p:nvPr/>
        </p:nvSpPr>
        <p:spPr>
          <a:xfrm>
            <a:off x="1202436" y="188422"/>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p>
          <a:p>
            <a:pPr marL="0" indent="0">
              <a:buNone/>
            </a:pPr>
            <a:r>
              <a:rPr lang="en-US" sz="1500" b="1" dirty="0">
                <a:solidFill>
                  <a:schemeClr val="accent1"/>
                </a:solidFill>
              </a:rPr>
              <a:t>Phoenix</a:t>
            </a:r>
            <a:endParaRPr lang="en-US" sz="900" dirty="0"/>
          </a:p>
        </p:txBody>
      </p:sp>
      <p:sp>
        <p:nvSpPr>
          <p:cNvPr id="7" name="Lead Icon Hex"/>
          <p:cNvSpPr/>
          <p:nvPr/>
        </p:nvSpPr>
        <p:spPr>
          <a:xfrm>
            <a:off x="697230" y="998525"/>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775335" y="1054667"/>
            <a:ext cx="274320" cy="274320"/>
          </a:xfrm>
          <a:prstGeom prst="rect">
            <a:avLst/>
          </a:prstGeom>
        </p:spPr>
      </p:pic>
      <p:sp>
        <p:nvSpPr>
          <p:cNvPr id="10" name="Prompts"/>
          <p:cNvSpPr txBox="1"/>
          <p:nvPr/>
        </p:nvSpPr>
        <p:spPr>
          <a:xfrm>
            <a:off x="1219200" y="1005840"/>
            <a:ext cx="10424160" cy="1645920"/>
          </a:xfrm>
          <a:prstGeom prst="rect">
            <a:avLst/>
          </a:prstGeom>
          <a:noFill/>
          <a:ln/>
        </p:spPr>
        <p:txBody>
          <a:bodyPr wrap="square" lIns="0" tIns="0" rIns="0" bIns="0" rtlCol="0" anchor="t"/>
          <a:lstStyle/>
          <a:p>
            <a:r>
              <a:rPr lang="en-IN" b="1" i="1" u="sng" dirty="0"/>
              <a:t>PFAS CONTAMINATION: TARGET GROUPS &amp; BENEFICIARIES</a:t>
            </a:r>
          </a:p>
          <a:p>
            <a:endParaRPr lang="en-IN" b="1" dirty="0"/>
          </a:p>
          <a:p>
            <a:r>
              <a:rPr lang="en-IN" b="1" dirty="0"/>
              <a:t>1. Primary / Target Groups</a:t>
            </a:r>
          </a:p>
          <a:p>
            <a:pPr marL="742950" lvl="1" indent="-285750">
              <a:buFont typeface="Arial" panose="020B0604020202020204" pitchFamily="34" charset="0"/>
              <a:buChar char="•"/>
            </a:pPr>
            <a:r>
              <a:rPr lang="en-IN" dirty="0"/>
              <a:t>Communities exposed to PFAS-contaminated drinking water, soil, and food.</a:t>
            </a:r>
          </a:p>
          <a:p>
            <a:pPr marL="742950" lvl="1" indent="-285750">
              <a:buFont typeface="Arial" panose="020B0604020202020204" pitchFamily="34" charset="0"/>
              <a:buChar char="•"/>
            </a:pPr>
            <a:r>
              <a:rPr lang="en-IN" dirty="0"/>
              <a:t>Farmers and agricultural workers on potentially contaminated land.</a:t>
            </a:r>
          </a:p>
          <a:p>
            <a:pPr marL="742950" lvl="1" indent="-285750">
              <a:buFont typeface="Arial" panose="020B0604020202020204" pitchFamily="34" charset="0"/>
              <a:buChar char="•"/>
            </a:pPr>
            <a:r>
              <a:rPr lang="en-IN" dirty="0"/>
              <a:t>Vulnerable populations, including children and pregnant women.</a:t>
            </a:r>
          </a:p>
          <a:p>
            <a:r>
              <a:rPr lang="en-IN" b="1" dirty="0"/>
              <a:t>2. Secondary Stakeholders</a:t>
            </a:r>
          </a:p>
          <a:p>
            <a:pPr marL="742950" lvl="1" indent="-285750">
              <a:buFont typeface="Arial" panose="020B0604020202020204" pitchFamily="34" charset="0"/>
              <a:buChar char="•"/>
            </a:pPr>
            <a:r>
              <a:rPr lang="en-IN" dirty="0"/>
              <a:t>Water treatment facilities and environmental testing laboratories.</a:t>
            </a:r>
          </a:p>
          <a:p>
            <a:pPr marL="742950" lvl="1" indent="-285750">
              <a:buFont typeface="Arial" panose="020B0604020202020204" pitchFamily="34" charset="0"/>
              <a:buChar char="•"/>
            </a:pPr>
            <a:r>
              <a:rPr lang="en-IN" dirty="0"/>
              <a:t>Government regulators and public health authorities.</a:t>
            </a:r>
          </a:p>
          <a:p>
            <a:pPr marL="742950" lvl="1" indent="-285750">
              <a:buFont typeface="Arial" panose="020B0604020202020204" pitchFamily="34" charset="0"/>
              <a:buChar char="•"/>
            </a:pPr>
            <a:r>
              <a:rPr lang="en-IN" dirty="0"/>
              <a:t>PFAS-using industries, agricultural producers, and researchers.</a:t>
            </a:r>
          </a:p>
          <a:p>
            <a:r>
              <a:rPr lang="en-IN" b="1" dirty="0"/>
              <a:t>3. Key Beneficiaries</a:t>
            </a:r>
          </a:p>
          <a:p>
            <a:pPr marL="742950" lvl="1" indent="-285750">
              <a:buFont typeface="Arial" panose="020B0604020202020204" pitchFamily="34" charset="0"/>
              <a:buChar char="•"/>
            </a:pPr>
            <a:r>
              <a:rPr lang="en-IN" b="1" dirty="0"/>
              <a:t>Human health:</a:t>
            </a:r>
            <a:r>
              <a:rPr lang="en-IN" dirty="0"/>
              <a:t> Communities benefit from reduced PFAS exposure.</a:t>
            </a:r>
          </a:p>
          <a:p>
            <a:pPr marL="742950" lvl="1" indent="-285750">
              <a:buFont typeface="Arial" panose="020B0604020202020204" pitchFamily="34" charset="0"/>
              <a:buChar char="•"/>
            </a:pPr>
            <a:r>
              <a:rPr lang="en-IN" b="1" dirty="0"/>
              <a:t>Agriculture:</a:t>
            </a:r>
            <a:r>
              <a:rPr lang="en-IN" dirty="0"/>
              <a:t> Farmers, livestock, and consumers benefit from safer crops and food chains.</a:t>
            </a:r>
          </a:p>
          <a:p>
            <a:pPr marL="742950" lvl="1" indent="-285750">
              <a:buFont typeface="Arial" panose="020B0604020202020204" pitchFamily="34" charset="0"/>
              <a:buChar char="•"/>
            </a:pPr>
            <a:r>
              <a:rPr lang="en-IN" b="1" dirty="0"/>
              <a:t>Environment:</a:t>
            </a:r>
            <a:r>
              <a:rPr lang="en-IN" dirty="0"/>
              <a:t> Soil, groundwater, and aquatic ecosystems benefit from reduced contamination.</a:t>
            </a:r>
          </a:p>
          <a:p>
            <a:pPr marL="742950" lvl="1" indent="-285750">
              <a:buFont typeface="Arial" panose="020B0604020202020204" pitchFamily="34" charset="0"/>
              <a:buChar char="•"/>
            </a:pPr>
            <a:r>
              <a:rPr lang="en-IN" b="1" dirty="0"/>
              <a:t>Future generations:</a:t>
            </a:r>
            <a:r>
              <a:rPr lang="en-IN" dirty="0"/>
              <a:t> Benefit from preventing long-term PFAS accumulation.</a:t>
            </a:r>
          </a:p>
          <a:p>
            <a:r>
              <a:rPr lang="en-IN" b="1" dirty="0"/>
              <a:t>4. Wider Impact</a:t>
            </a:r>
          </a:p>
          <a:p>
            <a:pPr marL="742950" lvl="1" indent="-285750">
              <a:buFont typeface="Arial" panose="020B0604020202020204" pitchFamily="34" charset="0"/>
              <a:buChar char="•"/>
            </a:pPr>
            <a:r>
              <a:rPr lang="en-IN" dirty="0"/>
              <a:t>Improved detection, monitoring, and treatment of PFAS contamination.</a:t>
            </a:r>
          </a:p>
          <a:p>
            <a:pPr marL="742950" lvl="1" indent="-285750">
              <a:buFont typeface="Arial" panose="020B0604020202020204" pitchFamily="34" charset="0"/>
              <a:buChar char="•"/>
            </a:pPr>
            <a:r>
              <a:rPr lang="en-IN" dirty="0"/>
              <a:t>Better management of contaminated agricultural land and crop residues.</a:t>
            </a:r>
          </a:p>
          <a:p>
            <a:pPr marL="742950" lvl="1" indent="-285750">
              <a:buFont typeface="Arial" panose="020B0604020202020204" pitchFamily="34" charset="0"/>
              <a:buChar char="•"/>
            </a:pPr>
            <a:r>
              <a:rPr lang="en-IN" dirty="0"/>
              <a:t>Stronger environmental protection and more sustainable industrial practices.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Phoenix</a:t>
            </a:r>
            <a:endParaRPr lang="en-US" sz="900" dirty="0"/>
          </a:p>
        </p:txBody>
      </p:sp>
      <p:sp>
        <p:nvSpPr>
          <p:cNvPr id="7" name="Lead Icon Hex"/>
          <p:cNvSpPr/>
          <p:nvPr/>
        </p:nvSpPr>
        <p:spPr>
          <a:xfrm>
            <a:off x="9144" y="1018184"/>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117565" y="1078992"/>
            <a:ext cx="274320" cy="274320"/>
          </a:xfrm>
          <a:prstGeom prst="rect">
            <a:avLst/>
          </a:prstGeom>
        </p:spPr>
      </p:pic>
      <p:sp>
        <p:nvSpPr>
          <p:cNvPr id="10" name="Prompts"/>
          <p:cNvSpPr txBox="1"/>
          <p:nvPr/>
        </p:nvSpPr>
        <p:spPr>
          <a:xfrm>
            <a:off x="500306" y="1143783"/>
            <a:ext cx="11643360" cy="502921"/>
          </a:xfrm>
          <a:prstGeom prst="rect">
            <a:avLst/>
          </a:prstGeom>
          <a:noFill/>
          <a:ln/>
        </p:spPr>
        <p:txBody>
          <a:bodyPr wrap="square" lIns="0" tIns="0" rIns="0" bIns="0" rtlCol="0" anchor="t"/>
          <a:lstStyle/>
          <a:p>
            <a:r>
              <a:rPr lang="en-IN" b="1" dirty="0"/>
              <a:t>EXISTING SCENARIO: PFAS TREATMENT TODAY</a:t>
            </a:r>
          </a:p>
          <a:p>
            <a:r>
              <a:rPr lang="en-IN" dirty="0"/>
              <a:t>From contaminant removal to complete destruction</a:t>
            </a:r>
          </a:p>
          <a:p>
            <a:br>
              <a:rPr lang="en-IN" b="1" dirty="0"/>
            </a:br>
            <a:r>
              <a:rPr lang="en-IN" b="1" dirty="0"/>
              <a:t>BACKGROUND</a:t>
            </a:r>
          </a:p>
          <a:p>
            <a:r>
              <a:rPr lang="en-IN" dirty="0"/>
              <a:t>Per- and polyfluoroalkyl substances (PFAS), known as forever chemicals, persist in water and the environment because their carbon–fluorine (C–F) bonds are exceptionally strong. Conventional water-treatment processes are generally ineffective at removing many PFAS.</a:t>
            </a:r>
          </a:p>
          <a:p>
            <a:br>
              <a:rPr lang="en-IN" dirty="0"/>
            </a:br>
            <a:r>
              <a:rPr lang="en-IN" b="1" dirty="0"/>
              <a:t>HOW DOES TREATMENT WORK TODAY?</a:t>
            </a:r>
          </a:p>
          <a:p>
            <a:r>
              <a:rPr lang="en-IN" dirty="0"/>
              <a:t>- Activated Carbon (GAC): Adsorbs PFAS onto porous carbon surfaces.</a:t>
            </a:r>
          </a:p>
          <a:p>
            <a:r>
              <a:rPr lang="en-IN" dirty="0"/>
              <a:t>- Ion-Exchange Resins: Capture PFAS using specialized charged resins.</a:t>
            </a:r>
          </a:p>
          <a:p>
            <a:r>
              <a:rPr lang="en-IN" dirty="0"/>
              <a:t>- Reverse Osmosis (RO): Separates PFAS from water using high-pressure membranes.</a:t>
            </a:r>
          </a:p>
          <a:p>
            <a:pPr marL="285750" indent="-285750">
              <a:buFontTx/>
              <a:buChar char="-"/>
            </a:pPr>
            <a:r>
              <a:rPr lang="en-IN" dirty="0"/>
              <a:t>Emerging Destruction Technologies: Electrochemical oxidation, supercritical water oxidation and plasma-based processes aim to break down PFAS molecules.</a:t>
            </a:r>
          </a:p>
          <a:p>
            <a:endParaRPr lang="en-IN" b="1" dirty="0"/>
          </a:p>
          <a:p>
            <a:r>
              <a:rPr lang="en-IN" b="1" dirty="0"/>
              <a:t>THE CRITICAL GAP</a:t>
            </a:r>
          </a:p>
          <a:p>
            <a:r>
              <a:rPr lang="en-IN" dirty="0"/>
              <a:t>Conventional technologies primarily separate PFAS from water rather than destroy it, producing contaminated filters, spent adsorbents or concentrated waste streams that require further management. Destruction technologies are promising but still face challenges involving energy demand, cost, scalability and by-product control.</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2078433"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Phoenix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1234440" y="1325880"/>
            <a:ext cx="10424160" cy="1645920"/>
          </a:xfrm>
          <a:prstGeom prst="rect">
            <a:avLst/>
          </a:prstGeom>
          <a:noFill/>
          <a:ln/>
        </p:spPr>
        <p:txBody>
          <a:bodyPr wrap="square" lIns="0" tIns="0" rIns="0" bIns="0" rtlCol="0" anchor="t"/>
          <a:lstStyle/>
          <a:p>
            <a:r>
              <a:rPr lang="en-US" b="1" dirty="0">
                <a:solidFill>
                  <a:schemeClr val="accent6">
                    <a:lumMod val="10000"/>
                  </a:schemeClr>
                </a:solidFill>
              </a:rPr>
              <a:t>1) Exceptional C-F Bond Stability: </a:t>
            </a:r>
            <a:r>
              <a:rPr lang="en-US" dirty="0">
                <a:solidFill>
                  <a:schemeClr val="accent6">
                    <a:lumMod val="10000"/>
                  </a:schemeClr>
                </a:solidFill>
              </a:rPr>
              <a:t>The strong carbon-fluorine bonds make PFAS highly resistant</a:t>
            </a:r>
            <a:br>
              <a:rPr lang="en-US" dirty="0">
                <a:solidFill>
                  <a:schemeClr val="accent6">
                    <a:lumMod val="10000"/>
                  </a:schemeClr>
                </a:solidFill>
              </a:rPr>
            </a:br>
            <a:r>
              <a:rPr lang="en-US" dirty="0">
                <a:solidFill>
                  <a:schemeClr val="accent6">
                    <a:lumMod val="10000"/>
                  </a:schemeClr>
                </a:solidFill>
              </a:rPr>
              <a:t>to conventional chemical, biological and thermal degradation.</a:t>
            </a:r>
            <a:br>
              <a:rPr lang="en-US" dirty="0">
                <a:solidFill>
                  <a:schemeClr val="accent6">
                    <a:lumMod val="10000"/>
                  </a:schemeClr>
                </a:solidFill>
              </a:rPr>
            </a:br>
            <a:r>
              <a:rPr lang="en-US" b="1" dirty="0">
                <a:solidFill>
                  <a:schemeClr val="accent6">
                    <a:lumMod val="10000"/>
                  </a:schemeClr>
                </a:solidFill>
              </a:rPr>
              <a:t>2) Removal Without Destruction: </a:t>
            </a:r>
            <a:r>
              <a:rPr lang="en-US" dirty="0">
                <a:solidFill>
                  <a:schemeClr val="accent6">
                    <a:lumMod val="10000"/>
                  </a:schemeClr>
                </a:solidFill>
              </a:rPr>
              <a:t>Activated carbon and ion-exchange </a:t>
            </a:r>
            <a:r>
              <a:rPr lang="en-IN" dirty="0">
                <a:solidFill>
                  <a:schemeClr val="accent6">
                    <a:lumMod val="10000"/>
                  </a:schemeClr>
                </a:solidFill>
              </a:rPr>
              <a:t>resins capture PFAS</a:t>
            </a:r>
            <a:br>
              <a:rPr lang="en-IN" dirty="0">
                <a:solidFill>
                  <a:schemeClr val="accent6">
                    <a:lumMod val="10000"/>
                  </a:schemeClr>
                </a:solidFill>
              </a:rPr>
            </a:br>
            <a:r>
              <a:rPr lang="en-IN" dirty="0">
                <a:solidFill>
                  <a:schemeClr val="accent6">
                    <a:lumMod val="10000"/>
                  </a:schemeClr>
                </a:solidFill>
              </a:rPr>
              <a:t>but transfer contamination to spent media or concentrated brine.</a:t>
            </a:r>
            <a:br>
              <a:rPr lang="en-IN" dirty="0"/>
            </a:br>
            <a:r>
              <a:rPr lang="en-IN" b="1" dirty="0">
                <a:solidFill>
                  <a:schemeClr val="accent6">
                    <a:lumMod val="10000"/>
                  </a:schemeClr>
                </a:solidFill>
              </a:rPr>
              <a:t>3) </a:t>
            </a:r>
            <a:r>
              <a:rPr lang="en-US" b="1" dirty="0">
                <a:solidFill>
                  <a:schemeClr val="accent6">
                    <a:lumMod val="10000"/>
                  </a:schemeClr>
                </a:solidFill>
              </a:rPr>
              <a:t>High Energy and Treatment Costs: </a:t>
            </a:r>
            <a:r>
              <a:rPr lang="en-IN" dirty="0"/>
              <a:t>Advanced destruction technologies may require </a:t>
            </a:r>
          </a:p>
          <a:p>
            <a:r>
              <a:rPr lang="en-IN" dirty="0"/>
              <a:t>substantial energy, specialized catalysts or complex operating conditions.</a:t>
            </a:r>
            <a:br>
              <a:rPr lang="en-US" dirty="0">
                <a:solidFill>
                  <a:schemeClr val="accent2"/>
                </a:solidFill>
              </a:rPr>
            </a:br>
            <a:r>
              <a:rPr lang="en-US" b="1" dirty="0">
                <a:solidFill>
                  <a:schemeClr val="accent6">
                    <a:lumMod val="10000"/>
                  </a:schemeClr>
                </a:solidFill>
              </a:rPr>
              <a:t>4) Incomplete Defluorination &amp; Toxic By-products: </a:t>
            </a:r>
            <a:r>
              <a:rPr lang="en-IN" dirty="0"/>
              <a:t>Partial degradation can produce persistent short-chain PFAS or other potentially harmful intermediates instead of complete mineralization.</a:t>
            </a:r>
            <a:br>
              <a:rPr lang="en-US" dirty="0">
                <a:solidFill>
                  <a:schemeClr val="accent2"/>
                </a:solidFill>
              </a:rPr>
            </a:br>
            <a:r>
              <a:rPr lang="en-US" b="1" dirty="0">
                <a:solidFill>
                  <a:schemeClr val="accent6">
                    <a:lumMod val="10000"/>
                  </a:schemeClr>
                </a:solidFill>
              </a:rPr>
              <a:t>5) Practical Deployment Constraints: </a:t>
            </a:r>
            <a:r>
              <a:rPr lang="en-IN" dirty="0"/>
              <a:t>Treating low PFAS concentrations in real wastewater, while managing competing contaminants and minimizing secondary waste, remains challenging.</a:t>
            </a:r>
          </a:p>
          <a:p>
            <a:endParaRPr lang="en-IN" sz="1800" dirty="0"/>
          </a:p>
          <a:p>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pic>
        <p:nvPicPr>
          <p:cNvPr id="12" name="Picture 11">
            <a:extLst>
              <a:ext uri="{FF2B5EF4-FFF2-40B4-BE49-F238E27FC236}">
                <a16:creationId xmlns:a16="http://schemas.microsoft.com/office/drawing/2014/main" id="{6E8D437B-B9E1-26D8-86C1-F9E28F92FC16}"/>
              </a:ext>
            </a:extLst>
          </p:cNvPr>
          <p:cNvPicPr>
            <a:picLocks noChangeAspect="1"/>
          </p:cNvPicPr>
          <p:nvPr/>
        </p:nvPicPr>
        <p:blipFill>
          <a:blip r:embed="rId5"/>
          <a:stretch>
            <a:fillRect/>
          </a:stretch>
        </p:blipFill>
        <p:spPr>
          <a:xfrm>
            <a:off x="2942772" y="4208970"/>
            <a:ext cx="2377646" cy="1822862"/>
          </a:xfrm>
          <a:prstGeom prst="rect">
            <a:avLst/>
          </a:prstGeom>
        </p:spPr>
      </p:pic>
      <p:pic>
        <p:nvPicPr>
          <p:cNvPr id="14" name="Picture 13">
            <a:extLst>
              <a:ext uri="{FF2B5EF4-FFF2-40B4-BE49-F238E27FC236}">
                <a16:creationId xmlns:a16="http://schemas.microsoft.com/office/drawing/2014/main" id="{8FB4A526-78A3-D6FF-75CE-9C5BEAEB5011}"/>
              </a:ext>
            </a:extLst>
          </p:cNvPr>
          <p:cNvPicPr>
            <a:picLocks noChangeAspect="1"/>
          </p:cNvPicPr>
          <p:nvPr/>
        </p:nvPicPr>
        <p:blipFill>
          <a:blip r:embed="rId6"/>
          <a:stretch>
            <a:fillRect/>
          </a:stretch>
        </p:blipFill>
        <p:spPr>
          <a:xfrm>
            <a:off x="6871584" y="4487086"/>
            <a:ext cx="2381250" cy="800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Phoenix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1127760" y="1535520"/>
            <a:ext cx="10424160" cy="1645920"/>
          </a:xfrm>
          <a:prstGeom prst="rect">
            <a:avLst/>
          </a:prstGeom>
          <a:noFill/>
          <a:ln/>
        </p:spPr>
        <p:txBody>
          <a:bodyPr wrap="square" lIns="0" tIns="0" rIns="0" bIns="0" rtlCol="0" anchor="t"/>
          <a:lstStyle/>
          <a:p>
            <a:r>
              <a:rPr lang="en-IN" b="1" dirty="0"/>
              <a:t>1. Activated Carbon Adsorption</a:t>
            </a:r>
            <a:br>
              <a:rPr lang="en-IN" dirty="0"/>
            </a:br>
            <a:r>
              <a:rPr lang="en-IN" dirty="0"/>
              <a:t>Captures PFAS from water, but transfers contamination to spent carbon. </a:t>
            </a:r>
            <a:r>
              <a:rPr lang="en-IN" i="1" dirty="0"/>
              <a:t>Gap:</a:t>
            </a:r>
            <a:r>
              <a:rPr lang="en-IN" dirty="0"/>
              <a:t> Safe disposal or regeneration and actual PFAS destruction.</a:t>
            </a:r>
          </a:p>
          <a:p>
            <a:r>
              <a:rPr lang="en-IN" b="1" dirty="0"/>
              <a:t>2. Ion-Exchange Resins</a:t>
            </a:r>
            <a:br>
              <a:rPr lang="en-IN" dirty="0"/>
            </a:br>
            <a:r>
              <a:rPr lang="en-IN" dirty="0"/>
              <a:t>Efficiently capture ionic PFAS, but regeneration produces concentrated waste brine. </a:t>
            </a:r>
            <a:r>
              <a:rPr lang="en-IN" i="1" dirty="0"/>
              <a:t>Gap:</a:t>
            </a:r>
            <a:r>
              <a:rPr lang="en-IN" dirty="0"/>
              <a:t> Effective treatment of residual PFAS without secondary waste.</a:t>
            </a:r>
          </a:p>
          <a:p>
            <a:r>
              <a:rPr lang="en-IN" b="1" dirty="0"/>
              <a:t>3. Advanced Oxidation Processes (AOPs)</a:t>
            </a:r>
            <a:br>
              <a:rPr lang="en-IN" dirty="0"/>
            </a:br>
            <a:r>
              <a:rPr lang="en-IN" dirty="0"/>
              <a:t>Use reactive species to degrade contaminants, but conventional hydroxyl-radical-based methods struggle to break strong C–F bonds. </a:t>
            </a:r>
            <a:r>
              <a:rPr lang="en-IN" i="1" dirty="0"/>
              <a:t>Gap:</a:t>
            </a:r>
            <a:r>
              <a:rPr lang="en-IN" dirty="0"/>
              <a:t> Efficient, progressive defluorination.</a:t>
            </a:r>
          </a:p>
          <a:p>
            <a:r>
              <a:rPr lang="en-IN" b="1" dirty="0"/>
              <a:t>4. Electrochemical &amp; Plasma Treatment</a:t>
            </a:r>
            <a:br>
              <a:rPr lang="en-IN" dirty="0"/>
            </a:br>
            <a:r>
              <a:rPr lang="en-IN" dirty="0"/>
              <a:t>Can destroy PFAS, but may require high energy input and specialized equipment. </a:t>
            </a:r>
            <a:r>
              <a:rPr lang="en-IN" i="1" dirty="0"/>
              <a:t>Gap:</a:t>
            </a:r>
            <a:r>
              <a:rPr lang="en-IN" dirty="0"/>
              <a:t> Affordable, energy-efficient scale-up.</a:t>
            </a:r>
          </a:p>
          <a:p>
            <a:r>
              <a:rPr lang="en-IN" b="1" dirty="0"/>
              <a:t>5. Advanced Reduction Processes</a:t>
            </a:r>
            <a:br>
              <a:rPr lang="en-IN" dirty="0"/>
            </a:br>
            <a:r>
              <a:rPr lang="en-IN" dirty="0"/>
              <a:t>Use powerful reducing species, such as hydrated electrons, to initiate C–F cleavage, but their generation and delivery can be challenging in real water matrices. </a:t>
            </a:r>
            <a:r>
              <a:rPr lang="en-IN" i="1" dirty="0"/>
              <a:t>Gap:</a:t>
            </a:r>
            <a:r>
              <a:rPr lang="en-IN" dirty="0"/>
              <a:t> Low-cost, selective and sustained electron transfer with minimal harmful intermediates.</a:t>
            </a:r>
          </a:p>
          <a:p>
            <a:endParaRPr lang="en-US"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Phoenix</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758952" y="1980590"/>
            <a:ext cx="10424160" cy="1645920"/>
          </a:xfrm>
          <a:prstGeom prst="rect">
            <a:avLst/>
          </a:prstGeom>
          <a:noFill/>
          <a:ln/>
        </p:spPr>
        <p:txBody>
          <a:bodyPr wrap="square" lIns="0" tIns="0" rIns="0" bIns="0" rtlCol="0" anchor="t"/>
          <a:lstStyle/>
          <a:p>
            <a:r>
              <a:rPr lang="en-IN" b="1" dirty="0"/>
              <a:t>1. Hardware Requirements</a:t>
            </a:r>
          </a:p>
          <a:p>
            <a:r>
              <a:rPr lang="en-IN" dirty="0"/>
              <a:t>- Laboratory glassware and sample containers</a:t>
            </a:r>
          </a:p>
          <a:p>
            <a:r>
              <a:rPr lang="en-IN" dirty="0"/>
              <a:t>- Magnetic stirrer, pH meter and digital weighing balance</a:t>
            </a:r>
          </a:p>
          <a:p>
            <a:r>
              <a:rPr lang="en-IN" dirty="0"/>
              <a:t>- Temperature-controlled reactor and UV light source </a:t>
            </a:r>
          </a:p>
          <a:p>
            <a:r>
              <a:rPr lang="en-IN" dirty="0"/>
              <a:t>- Filtration unit or centrifuge</a:t>
            </a:r>
          </a:p>
          <a:p>
            <a:r>
              <a:rPr lang="en-IN" dirty="0"/>
              <a:t>- LC-MS/MS facility for PFAS testing</a:t>
            </a:r>
          </a:p>
          <a:p>
            <a:r>
              <a:rPr lang="en-IN" dirty="0"/>
              <a:t>- Safety equipment</a:t>
            </a:r>
          </a:p>
          <a:p>
            <a:endParaRPr lang="en-IN" b="1" dirty="0"/>
          </a:p>
          <a:p>
            <a:r>
              <a:rPr lang="en-IN" b="1" dirty="0"/>
              <a:t>2. Software Requirements</a:t>
            </a:r>
          </a:p>
          <a:p>
            <a:r>
              <a:rPr lang="en-IN" dirty="0"/>
              <a:t>- Microsoft Excel – data recording and analysis</a:t>
            </a:r>
          </a:p>
          <a:p>
            <a:r>
              <a:rPr lang="en-IN" dirty="0"/>
              <a:t>- Python – graphs and data analysis (optional)</a:t>
            </a:r>
          </a:p>
          <a:p>
            <a:r>
              <a:rPr lang="en-IN" dirty="0"/>
              <a:t>- AutoCAD/SolidWorks – prototype design</a:t>
            </a:r>
          </a:p>
          <a:p>
            <a:r>
              <a:rPr lang="en-IN" dirty="0"/>
              <a:t>- Arduino IDE – sensor monitoring (optional)</a:t>
            </a:r>
          </a:p>
          <a:p>
            <a:r>
              <a:rPr lang="en-IN" dirty="0"/>
              <a:t>- PowerPoint/Canva – presentation</a:t>
            </a:r>
          </a:p>
          <a:p>
            <a:r>
              <a:rPr lang="en-IN" dirty="0"/>
              <a:t>- Google Scholar/Scopus – research papers</a:t>
            </a: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11" name="TextBox 10">
            <a:extLst>
              <a:ext uri="{FF2B5EF4-FFF2-40B4-BE49-F238E27FC236}">
                <a16:creationId xmlns:a16="http://schemas.microsoft.com/office/drawing/2014/main" id="{67A13921-878F-BE5E-64B0-37324FA797E8}"/>
              </a:ext>
            </a:extLst>
          </p:cNvPr>
          <p:cNvSpPr txBox="1"/>
          <p:nvPr/>
        </p:nvSpPr>
        <p:spPr>
          <a:xfrm>
            <a:off x="6238738" y="1920240"/>
            <a:ext cx="5737725" cy="4247317"/>
          </a:xfrm>
          <a:prstGeom prst="rect">
            <a:avLst/>
          </a:prstGeom>
          <a:noFill/>
        </p:spPr>
        <p:txBody>
          <a:bodyPr wrap="none" rtlCol="0">
            <a:spAutoFit/>
          </a:bodyPr>
          <a:lstStyle/>
          <a:p>
            <a:r>
              <a:rPr lang="en-IN" b="1" dirty="0"/>
              <a:t>3. Other Resources</a:t>
            </a:r>
          </a:p>
          <a:p>
            <a:pPr marL="285750" indent="-285750">
              <a:buFontTx/>
              <a:buChar char="-"/>
            </a:pPr>
            <a:r>
              <a:rPr lang="en-IN" dirty="0"/>
              <a:t>Cerium oxide (</a:t>
            </a:r>
            <a:r>
              <a:rPr lang="en-IN" dirty="0" err="1"/>
              <a:t>CeO</a:t>
            </a:r>
            <a:r>
              <a:rPr lang="en-IN" dirty="0"/>
              <a:t>₂), water samples and</a:t>
            </a:r>
          </a:p>
          <a:p>
            <a:r>
              <a:rPr lang="en-IN" dirty="0"/>
              <a:t> PFAS analytical standards</a:t>
            </a:r>
          </a:p>
          <a:p>
            <a:r>
              <a:rPr lang="en-IN" dirty="0"/>
              <a:t>- Electrode materials (if required)</a:t>
            </a:r>
          </a:p>
          <a:p>
            <a:r>
              <a:rPr lang="en-IN" dirty="0"/>
              <a:t>- University laboratory and PFAS testing facilities</a:t>
            </a:r>
          </a:p>
          <a:p>
            <a:r>
              <a:rPr lang="en-IN" dirty="0"/>
              <a:t>- Chemicals, safety equipment and waste containers</a:t>
            </a:r>
          </a:p>
          <a:p>
            <a:r>
              <a:rPr lang="en-IN" dirty="0"/>
              <a:t>- Research papers, technical references and project funding</a:t>
            </a:r>
          </a:p>
          <a:p>
            <a:br>
              <a:rPr lang="en-IN" b="1" dirty="0"/>
            </a:br>
            <a:r>
              <a:rPr lang="en-IN" b="1" dirty="0"/>
              <a:t>4. Human Resources</a:t>
            </a:r>
          </a:p>
          <a:p>
            <a:r>
              <a:rPr lang="en-IN" dirty="0"/>
              <a:t>- Chemical engineering and materials science students</a:t>
            </a:r>
          </a:p>
          <a:p>
            <a:r>
              <a:rPr lang="en-IN" dirty="0"/>
              <a:t>- Environmental science expert</a:t>
            </a:r>
          </a:p>
          <a:p>
            <a:r>
              <a:rPr lang="en-IN" dirty="0"/>
              <a:t>- Electronics student (optional)</a:t>
            </a:r>
          </a:p>
          <a:p>
            <a:r>
              <a:rPr lang="en-IN" dirty="0"/>
              <a:t>- Laboratory technician and analytical chemistry expert</a:t>
            </a:r>
          </a:p>
          <a:p>
            <a:r>
              <a:rPr lang="en-IN" dirty="0"/>
              <a:t>- Faculty mentor and team coordinator</a:t>
            </a: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Phoenix</a:t>
            </a:r>
            <a:endParaRPr lang="en-US" sz="900" dirty="0"/>
          </a:p>
        </p:txBody>
      </p:sp>
      <p:sp>
        <p:nvSpPr>
          <p:cNvPr id="10" name="Prompts"/>
          <p:cNvSpPr txBox="1"/>
          <p:nvPr/>
        </p:nvSpPr>
        <p:spPr>
          <a:xfrm>
            <a:off x="168885" y="1143000"/>
            <a:ext cx="6166601" cy="1645920"/>
          </a:xfrm>
          <a:prstGeom prst="rect">
            <a:avLst/>
          </a:prstGeom>
          <a:noFill/>
          <a:ln/>
        </p:spPr>
        <p:txBody>
          <a:bodyPr wrap="square" lIns="0" tIns="0" rIns="0" bIns="0" rtlCol="0" anchor="t"/>
          <a:lstStyle/>
          <a:p>
            <a:r>
              <a:rPr lang="en-IN" b="1" dirty="0"/>
              <a:t>1. OUR PROPOSED INTERVENTION</a:t>
            </a:r>
          </a:p>
          <a:p>
            <a:r>
              <a:rPr lang="en-IN" dirty="0"/>
              <a:t>Develop a </a:t>
            </a:r>
            <a:r>
              <a:rPr lang="en-IN" dirty="0" err="1"/>
              <a:t>CeO</a:t>
            </a:r>
            <a:r>
              <a:rPr lang="en-IN" dirty="0"/>
              <a:t>₂-enabled electrochemical treatment approach to investigate the degradation of persistent PFAS by targeting their exceptionally stable carbon–fluorine (C–F) bonds.</a:t>
            </a:r>
          </a:p>
          <a:p>
            <a:endParaRPr lang="en-IN" b="1" dirty="0"/>
          </a:p>
          <a:p>
            <a:r>
              <a:rPr lang="en-IN" b="1" dirty="0"/>
              <a:t>2. KEY AREAS OF IMPROVEMENT</a:t>
            </a:r>
          </a:p>
          <a:p>
            <a:r>
              <a:rPr lang="en-IN" dirty="0"/>
              <a:t>- Destructive Efficacy: Advance beyond contaminant separation towards molecular degradation and defluorination.</a:t>
            </a:r>
          </a:p>
          <a:p>
            <a:r>
              <a:rPr lang="en-IN" dirty="0"/>
              <a:t>- Energy Optimization: Investigate lower-potential operating conditions to improve energy efficiency.</a:t>
            </a:r>
          </a:p>
          <a:p>
            <a:r>
              <a:rPr lang="en-IN" dirty="0"/>
              <a:t>- Environmental Integrity: Minimize secondary waste and mitigate harmful degradation by-products.</a:t>
            </a:r>
          </a:p>
          <a:p>
            <a:pPr marL="285750" indent="-285750">
              <a:buFontTx/>
              <a:buChar char="-"/>
            </a:pPr>
            <a:r>
              <a:rPr lang="en-IN" dirty="0"/>
              <a:t>Deployment Feasibility: Explore cost-effective, modular implementation for Indian water-treatment infrastructure</a:t>
            </a:r>
          </a:p>
          <a:p>
            <a:endParaRPr lang="en-IN" dirty="0"/>
          </a:p>
          <a:p>
            <a:r>
              <a:rPr lang="en-IN" b="1" dirty="0"/>
              <a:t>OUR VISION</a:t>
            </a:r>
          </a:p>
          <a:p>
            <a:r>
              <a:rPr lang="en-IN" dirty="0"/>
              <a:t>To transform PFAS remediation from contaminant containment into measurable, energy-conscious and sustainable destruction.</a:t>
            </a:r>
          </a:p>
          <a:p>
            <a:endParaRPr lang="en-IN"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11" name="TextBox 10">
            <a:extLst>
              <a:ext uri="{FF2B5EF4-FFF2-40B4-BE49-F238E27FC236}">
                <a16:creationId xmlns:a16="http://schemas.microsoft.com/office/drawing/2014/main" id="{6EB48F56-A2D7-DD65-F09D-ECB65199949E}"/>
              </a:ext>
            </a:extLst>
          </p:cNvPr>
          <p:cNvSpPr txBox="1"/>
          <p:nvPr/>
        </p:nvSpPr>
        <p:spPr>
          <a:xfrm>
            <a:off x="6456785" y="757646"/>
            <a:ext cx="4909263" cy="5078313"/>
          </a:xfrm>
          <a:prstGeom prst="rect">
            <a:avLst/>
          </a:prstGeom>
          <a:noFill/>
        </p:spPr>
        <p:txBody>
          <a:bodyPr wrap="square" rtlCol="0">
            <a:spAutoFit/>
          </a:bodyPr>
          <a:lstStyle/>
          <a:p>
            <a:br>
              <a:rPr lang="en-IN" dirty="0"/>
            </a:br>
            <a:r>
              <a:rPr lang="en-IN" b="1" dirty="0"/>
              <a:t>3. ANTICIPATED SUCCESS INDICATORS</a:t>
            </a:r>
          </a:p>
          <a:p>
            <a:r>
              <a:rPr lang="en-IN" dirty="0"/>
              <a:t>- Quantifiable PFAS degradation and fluoride release.</a:t>
            </a:r>
          </a:p>
          <a:p>
            <a:r>
              <a:rPr lang="en-IN" dirty="0"/>
              <a:t>- Improved energy efficiency per unit of PFAS destroyed.</a:t>
            </a:r>
          </a:p>
          <a:p>
            <a:r>
              <a:rPr lang="en-IN" dirty="0"/>
              <a:t>- Reduced secondary-waste generation and controlled by-product formation.</a:t>
            </a:r>
          </a:p>
          <a:p>
            <a:r>
              <a:rPr lang="en-IN" dirty="0"/>
              <a:t>- A technically validated pathway towards scalable implementation.</a:t>
            </a:r>
          </a:p>
          <a:p>
            <a:endParaRPr lang="en-IN" dirty="0"/>
          </a:p>
          <a:p>
            <a:r>
              <a:rPr lang="en-IN" b="1" dirty="0"/>
              <a:t>SUPPORTING DIGITAL INNOVATION: </a:t>
            </a:r>
            <a:r>
              <a:rPr lang="en-IN" dirty="0"/>
              <a:t>A PFAS Smart Treatment Optimizer App for comparative treatment analysis and preliminary cost–energy assessment.</a:t>
            </a:r>
          </a:p>
          <a:p>
            <a:endParaRPr lang="en-IN" dirty="0"/>
          </a:p>
          <a:p>
            <a:endParaRPr lang="en-IN" dirty="0"/>
          </a:p>
          <a:p>
            <a:endParaRPr lang="en-IN" dirty="0"/>
          </a:p>
        </p:txBody>
      </p:sp>
      <p:pic>
        <p:nvPicPr>
          <p:cNvPr id="13" name="Picture 12">
            <a:extLst>
              <a:ext uri="{FF2B5EF4-FFF2-40B4-BE49-F238E27FC236}">
                <a16:creationId xmlns:a16="http://schemas.microsoft.com/office/drawing/2014/main" id="{AE965231-09BC-2B59-76AD-C218EBA365F1}"/>
              </a:ext>
            </a:extLst>
          </p:cNvPr>
          <p:cNvPicPr>
            <a:picLocks noChangeAspect="1"/>
          </p:cNvPicPr>
          <p:nvPr/>
        </p:nvPicPr>
        <p:blipFill>
          <a:blip r:embed="rId4"/>
          <a:stretch>
            <a:fillRect/>
          </a:stretch>
        </p:blipFill>
        <p:spPr>
          <a:xfrm>
            <a:off x="8513641" y="4762548"/>
            <a:ext cx="1511017" cy="1511017"/>
          </a:xfrm>
          <a:prstGeom prst="rect">
            <a:avLst/>
          </a:prstGeom>
        </p:spPr>
      </p:pic>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TotalTime>
  <Words>1325</Words>
  <Application>Microsoft Office PowerPoint</Application>
  <PresentationFormat>Widescreen</PresentationFormat>
  <Paragraphs>143</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Genesis Ideathon</vt:lpstr>
      <vt:lpstr>PowerPoint Presentation</vt:lpstr>
      <vt:lpstr>DOMAIN PROBLEM </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SAHANA S</cp:lastModifiedBy>
  <cp:revision>5</cp:revision>
  <dcterms:created xsi:type="dcterms:W3CDTF">2026-10-07T15:27:40Z</dcterms:created>
  <dcterms:modified xsi:type="dcterms:W3CDTF">2026-10-09T18:05:40Z</dcterms:modified>
</cp:coreProperties>
</file>